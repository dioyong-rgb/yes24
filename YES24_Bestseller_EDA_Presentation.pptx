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안녕하십니까, 오늘 발표를 맡은 20년차 데이터 분석가입니다. 
지금부터 대한민국 대표 온라인 서점인 YES24의 베스트셀러 도서 1,000건을 대상으로 진행된 '심층 탐색적 데이터 분석(EDA) 및 비즈니스 전략 보고서' 발표를 시작하도록 하겠습니다.
이번 보고서는 절제되고 자연스러운 노르딕 미니멀리즘(Nordic Minimalism) 디자인 언어와 따뜻한 벽돌색(Terracotta Red) 포인트를 적용하여, 데이터의 핵심 구조를 시각적으로 직관적이게 이해할 수 있도록 재설계되었습니다.
저희가 분석한 데이터셋은 총 1,000개 도서 표본과 26개 변수로 구성되어 있으며, 데이터 무결성 100%를 검증했습니다. 발표 진행 동안 11종의 시각화 차트와 플랫 아이콘을 활용하여 출판사와 유통사에 즉각적인 가치를 전달하겠습니다.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오늘 발표는 크게 4개의 핵심 섹션으로 나누어 진행됩니다.
첫 번째 섹션은 데이터 기초 검증 단계로서, YES24 베스트셀러 1,000건의 데이터 크기와 차원, 중복 0건의 무결성 검증, 수집된 26개 변수의 구조 및 결측치 원인을 다룹니다.
두 번째 섹션은 기술통계 분석으로 정가/판매가의 사분위 범위, 판매지수의 롱테일 비대칭성, 독자 평점/리뷰수의 상호작용, 출판사 과점 현상을 살펴봅니다.
세 번째 섹션은 11종 특화 차트의 심층 해석입니다. 히스토그램, 박스플롯, Bar 차트, 시계열, 상관관계 히트맵, TF-IDF 텍스트 키워드 차트를 세밀하게 분석합니다.
네 번째 섹션은 4대 핵심 결론과 출판사/유통사 3단계 전략 로드맵을 제언해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1.1 절에서는 데이터 분석의 가장 기본인 데이터의 크기와 차원, 데이터 무결성 검증 결과를 말씀드립니다.
분석 데이터셋은 총 1,000개의 행(Rows)과 26개의 열(Columns)로 구성되어 있습니다. 식별자 정밀 검증 결과 중복 데이터 0건, 데이터 무결성 100%를 확보했습니다.
우측 카드를 보시면 수집된 원시 데이터에서 쉼표나 '원' 등의 단위를 정제하고, float64 수치형 변수 10개를 추가 파생시켰으며, 출간일 역시 YYYY-MM 형태로 표준화하여 시계열 분석의 기반을 마련했습니다.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1.2 절에서는 변수 구조 및 수집 과정에서 관찰된 결측치(Missing Values) 현황을 말씀드립니다.
부제목(28.8%), 할인율(11.1%), 평점 및 리뷰수(19.9%) 3개 주요 변수에서 결측치가 관찰되었습니다. 평점/리뷰수의 199건 결측은 데이터 오류가 아닌, 출간된 지 얼마 되지 않아 독자 서평이 누적되지 않은 신규 진입 신간들이므로 정밀 처리하여 데이터 손실을 최소화했습니다.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1.3 절에서는 상위 1위~5위 도서와 하위 996위~1000위 도서를 비교한 샘플 프리뷰입니다.
Top 5 도서명에는 '클로드', '챗GPT', 'AI 3대장', '바이브 코딩' 등 인공지능 관련 키워드가 일률적으로 진입해 있으며, 판매지수 역시 77,061에 달합니다. 하위 5개 도서는 판매지수가 120~700 수준으로 상하위 도서 간 판매지수 격차가 최대 600배 이상 벌어지는 흥행 비대칭성을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2.1 절에서는 7개 수치형 변수의 기술통계 요약입니다. 정가 평균 26,128원, 판매가 평균 23,845원, 중앙값은 각각 25,000원과 22,500원입니다.
판매지수의 평균은 2,768인 반면 중간값은 1,144.5에 불과하여 2.4배 이상의 격차를 보이는 우측 꼬리 롱테일 분포를 정밀하게 입증해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2.2 절에서는 범주형 변수의 생태계 집중도입니다. 한빛미디어가 149권(14.9%)으로 독보적 1위이며, 저자는 Mojang Studio(16권) 등 기술서 전문 저자의 팬덤 연쇄 흥행 현상이 관찰됩니다.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2.3 절에서는 가격 구조와 10% 할인 메커니즘입니다. 베스트셀러 정가 평균 2.6만 원에 10% 할인이 일률 적용되어 최종 2.3만 원에 구매됩니다. 할인율이 10%로 고착화되었으므로 사은품, 포인트 등 비가격 마케팅이 핵심 승부처입니다.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2.4 절에서는 상위 5% 메가 베스트셀러와 하위 95% 일반 베스트셀러 간의 파레토 롱테일 양극화 현상입니다. 메가 베스트셀러의 재고 공급망 완벽 유지가 필수적입니다.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2.5 절에서는 평점 9.5점 이상 확보는 기본 조건(Baseline)이며, 신속한 30건 이상의 리뷰 볼륨 생성이 흥행 수명을 확장한다는 분석입니다.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2.6 절에서는 대형 출판사의 과점화, 저자 브랜딩 파워, 신간 1~3개월 초기 마케팅 골든타임이라는 3대 생태계 구조를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3.1 절에서는 판매지수의 우측 꼬리 롱테일 분포 차트를 통한 상위 5% 메가 베스트셀러 수량 집중 관리 필요성을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3.1 절 연계로서 판매지수 10,000pt 이상 S등급, A등급, B등급별 3단계 차별화 마케팅/재고 대응 가이드입니다.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3.2 절 박스플롯 분석에서는 정가와 판매가 사분위 범위의 완벽한 평행 이동을 통해 10% 정률 할인의 준수 실태를 증명합니다.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3.2 절 연계로서 표준 가격대와 10만 원 이상 고가 서적 이상치의 비즈니스 특성 비교입니다.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3.3 절 할인율 빈도 차트로 10% 정률 할인율의 디폴트 고착화 현상을 입증합니다.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3.3 절 연계 비가격 마케팅 3대 차별화 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3.4 절 상위 출판사 지형도로 대형 출판사의 과점화 현상을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3.4 절 연계 대형 출판사의 4대 핵심 성공 패턴 분석입니다.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3.5 절 저자 상위 30명 분석으로 저자 브랜드 파워를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3.6 절 권당 평균 판매지수 상위 출판사 분석입니다.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3.7 절 산점도 분석으로 정가와 판매지수 간 골디락스 구간을 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3.8 절 평점 대 리뷰수 분석입니다.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3.9 절 출간연월 시계열 분석입니다.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3.10 절 수치형 변수 상관관계 히트맵 분석입니다.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3.11 절 TF-IDF 키워드 상위 30개 분석입니다.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TF-IDF 키워드 분석에서 도출된 2026년 도서 시장 4대 AI 테마 분석입니다.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4.1 절에서는 이번 EDA의 4대 핵심 결론(가격, 롱테일, AI 키워드, 리뷰)을 종합 요약합니다.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4.2 절에서는 출판사와 서점이 즉각 실행할 수 있는 3단계 Actionable 로드맵을 제언합니다.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 약 2분 분량]
이상으로 YES24 베스트셀러 탐색적 데이터 분석(EDA) 노르딕 에디션 발표를 마칩니다. 질문이나 추가 요청 사항에 대해 답변해 드리겠습니다.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731520" y="731520"/>
            <a:ext cx="10728655" cy="5303520"/>
          </a:xfrm>
          <a:prstGeom prst="roundRect">
            <a:avLst>
              <a:gd name="adj" fmla="val 1379"/>
            </a:avLst>
          </a:prstGeom>
          <a:solidFill>
            <a:srgbClr val="FFFFFF"/>
          </a:solidFill>
          <a:ln w="19050">
            <a:solidFill>
              <a:srgbClr val="E2DACD"/>
            </a:solidFill>
            <a:prstDash val="solid"/>
          </a:ln>
        </p:spPr>
      </p:sp>
      <p:sp>
        <p:nvSpPr>
          <p:cNvPr id="3" name="Shape 1"/>
          <p:cNvSpPr/>
          <p:nvPr/>
        </p:nvSpPr>
        <p:spPr>
          <a:xfrm>
            <a:off x="731520" y="731520"/>
            <a:ext cx="228600" cy="5303520"/>
          </a:xfrm>
          <a:prstGeom prst="roundRect">
            <a:avLst/>
          </a:prstGeom>
          <a:solidFill>
            <a:srgbClr val="B85042"/>
          </a:solidFill>
          <a:ln/>
        </p:spPr>
      </p:sp>
      <p:sp>
        <p:nvSpPr>
          <p:cNvPr id="4" name="Text 2"/>
          <p:cNvSpPr/>
          <p:nvPr/>
        </p:nvSpPr>
        <p:spPr>
          <a:xfrm>
            <a:off x="1280160" y="1280160"/>
            <a:ext cx="9601200" cy="1645920"/>
          </a:xfrm>
          <a:prstGeom prst="rect">
            <a:avLst/>
          </a:prstGeom>
          <a:noFill/>
          <a:ln/>
        </p:spPr>
        <p:txBody>
          <a:bodyPr wrap="square" rtlCol="0" anchor="ctr"/>
          <a:lstStyle/>
          <a:p>
            <a:pPr algn="l" indent="0" marL="0">
              <a:buNone/>
            </a:pPr>
            <a:r>
              <a:rPr lang="en-US" sz="3200" b="1" dirty="0">
                <a:solidFill>
                  <a:srgbClr val="3D3530"/>
                </a:solidFill>
                <a:latin typeface="Gmarket Sans Bold" pitchFamily="34" charset="0"/>
                <a:ea typeface="Gmarket Sans Bold" pitchFamily="34" charset="-122"/>
                <a:cs typeface="Gmarket Sans Bold" pitchFamily="34" charset="-120"/>
              </a:rPr>
              <a:t>YES24 도서 베스트셀러 1,000건</a:t>
            </a:r>
            <a:endParaRPr lang="en-US" sz="3200" dirty="0"/>
          </a:p>
          <a:p>
            <a:pPr algn="l" indent="0" marL="0">
              <a:buNone/>
            </a:pPr>
            <a:r>
              <a:rPr lang="en-US" sz="3200" b="1" dirty="0">
                <a:solidFill>
                  <a:srgbClr val="3D3530"/>
                </a:solidFill>
                <a:latin typeface="Gmarket Sans Bold" pitchFamily="34" charset="0"/>
                <a:ea typeface="Gmarket Sans Bold" pitchFamily="34" charset="-122"/>
                <a:cs typeface="Gmarket Sans Bold" pitchFamily="34" charset="-120"/>
              </a:rPr>
              <a:t>심층 EDA &amp; 비즈니스 전략 보고서</a:t>
            </a:r>
            <a:endParaRPr lang="en-US" sz="3200" dirty="0"/>
          </a:p>
        </p:txBody>
      </p:sp>
      <p:sp>
        <p:nvSpPr>
          <p:cNvPr id="5" name="Text 3"/>
          <p:cNvSpPr/>
          <p:nvPr/>
        </p:nvSpPr>
        <p:spPr>
          <a:xfrm>
            <a:off x="1280160" y="2926080"/>
            <a:ext cx="9601200" cy="731520"/>
          </a:xfrm>
          <a:prstGeom prst="rect">
            <a:avLst/>
          </a:prstGeom>
          <a:noFill/>
          <a:ln/>
        </p:spPr>
        <p:txBody>
          <a:bodyPr wrap="square" rtlCol="0" anchor="ctr"/>
          <a:lstStyle/>
          <a:p>
            <a:pPr algn="l" indent="0" marL="0">
              <a:buNone/>
            </a:pPr>
            <a:r>
              <a:rPr lang="en-US" sz="1500" dirty="0">
                <a:solidFill>
                  <a:srgbClr val="7A6C5D"/>
                </a:solidFill>
                <a:latin typeface="NanumGothic" pitchFamily="34" charset="0"/>
                <a:ea typeface="NanumGothic" pitchFamily="34" charset="-122"/>
                <a:cs typeface="NanumGothic" pitchFamily="34" charset="-120"/>
              </a:rPr>
              <a:t>20년차 데이터 분석가의 노르딕 미니멀리즘 접근법: 시장 구조, 정가 할인, 파레토 흥행 및 AI 트렌드</a:t>
            </a:r>
            <a:endParaRPr lang="en-US" sz="1500" dirty="0"/>
          </a:p>
        </p:txBody>
      </p:sp>
      <p:sp>
        <p:nvSpPr>
          <p:cNvPr id="6" name="Shape 4"/>
          <p:cNvSpPr/>
          <p:nvPr/>
        </p:nvSpPr>
        <p:spPr>
          <a:xfrm>
            <a:off x="1280160" y="3931920"/>
            <a:ext cx="3017520" cy="1188720"/>
          </a:xfrm>
          <a:prstGeom prst="roundRect">
            <a:avLst>
              <a:gd name="adj" fmla="val 6154"/>
            </a:avLst>
          </a:prstGeom>
          <a:solidFill>
            <a:srgbClr val="FDF2F0"/>
          </a:solidFill>
          <a:ln w="12700">
            <a:solidFill>
              <a:srgbClr val="B85042"/>
            </a:solidFill>
            <a:prstDash val="solid"/>
          </a:ln>
        </p:spPr>
      </p:sp>
      <p:pic>
        <p:nvPicPr>
          <p:cNvPr id="7" name="Image 0" descr="preencoded.png">    </p:cNvPr>
          <p:cNvPicPr>
            <a:picLocks noChangeAspect="1"/>
          </p:cNvPicPr>
          <p:nvPr/>
        </p:nvPicPr>
        <p:blipFill>
          <a:blip r:embed="rId1"/>
          <a:stretch>
            <a:fillRect/>
          </a:stretch>
        </p:blipFill>
        <p:spPr>
          <a:xfrm>
            <a:off x="1463040" y="4114800"/>
            <a:ext cx="411480" cy="411480"/>
          </a:xfrm>
          <a:prstGeom prst="rect">
            <a:avLst/>
          </a:prstGeom>
        </p:spPr>
      </p:pic>
      <p:sp>
        <p:nvSpPr>
          <p:cNvPr id="8" name="Text 5"/>
          <p:cNvSpPr/>
          <p:nvPr/>
        </p:nvSpPr>
        <p:spPr>
          <a:xfrm>
            <a:off x="1965960" y="4069080"/>
            <a:ext cx="2194560" cy="274320"/>
          </a:xfrm>
          <a:prstGeom prst="rect">
            <a:avLst/>
          </a:prstGeom>
          <a:noFill/>
          <a:ln/>
        </p:spPr>
        <p:txBody>
          <a:bodyPr wrap="square" rtlCol="0" anchor="ctr"/>
          <a:lstStyle/>
          <a:p>
            <a:pPr indent="0" marL="0">
              <a:buNone/>
            </a:pPr>
            <a:r>
              <a:rPr lang="en-US" sz="1100" dirty="0">
                <a:solidFill>
                  <a:srgbClr val="7A6C5D"/>
                </a:solidFill>
                <a:latin typeface="NanumGothic" pitchFamily="34" charset="0"/>
                <a:ea typeface="NanumGothic" pitchFamily="34" charset="-122"/>
                <a:cs typeface="NanumGothic" pitchFamily="34" charset="-120"/>
              </a:rPr>
              <a:t>분석 표본 데이터</a:t>
            </a:r>
            <a:endParaRPr lang="en-US" sz="1100" dirty="0"/>
          </a:p>
        </p:txBody>
      </p:sp>
      <p:sp>
        <p:nvSpPr>
          <p:cNvPr id="9" name="Text 6"/>
          <p:cNvSpPr/>
          <p:nvPr/>
        </p:nvSpPr>
        <p:spPr>
          <a:xfrm>
            <a:off x="1965960" y="4343400"/>
            <a:ext cx="2194560" cy="457200"/>
          </a:xfrm>
          <a:prstGeom prst="rect">
            <a:avLst/>
          </a:prstGeom>
          <a:noFill/>
          <a:ln/>
        </p:spPr>
        <p:txBody>
          <a:bodyPr wrap="square" rtlCol="0" anchor="ctr"/>
          <a:lstStyle/>
          <a:p>
            <a:pPr indent="0" marL="0">
              <a:buNone/>
            </a:pPr>
            <a:r>
              <a:rPr lang="en-US" sz="1800" b="1" dirty="0">
                <a:solidFill>
                  <a:srgbClr val="963B2F"/>
                </a:solidFill>
                <a:latin typeface="Gmarket Sans Bold" pitchFamily="34" charset="0"/>
                <a:ea typeface="Gmarket Sans Bold" pitchFamily="34" charset="-122"/>
                <a:cs typeface="Gmarket Sans Bold" pitchFamily="34" charset="-120"/>
              </a:rPr>
              <a:t>1,000건</a:t>
            </a:r>
            <a:endParaRPr lang="en-US" sz="1800" dirty="0"/>
          </a:p>
        </p:txBody>
      </p:sp>
      <p:sp>
        <p:nvSpPr>
          <p:cNvPr id="10" name="Shape 7"/>
          <p:cNvSpPr/>
          <p:nvPr/>
        </p:nvSpPr>
        <p:spPr>
          <a:xfrm>
            <a:off x="4572000" y="3931920"/>
            <a:ext cx="3017520" cy="1188720"/>
          </a:xfrm>
          <a:prstGeom prst="roundRect">
            <a:avLst>
              <a:gd name="adj" fmla="val 6154"/>
            </a:avLst>
          </a:prstGeom>
          <a:solidFill>
            <a:srgbClr val="FDF2F0"/>
          </a:solidFill>
          <a:ln w="12700">
            <a:solidFill>
              <a:srgbClr val="B85042"/>
            </a:solidFill>
            <a:prstDash val="solid"/>
          </a:ln>
        </p:spPr>
      </p:sp>
      <p:pic>
        <p:nvPicPr>
          <p:cNvPr id="11" name="Image 1" descr="preencoded.png">    </p:cNvPr>
          <p:cNvPicPr>
            <a:picLocks noChangeAspect="1"/>
          </p:cNvPicPr>
          <p:nvPr/>
        </p:nvPicPr>
        <p:blipFill>
          <a:blip r:embed="rId2"/>
          <a:stretch>
            <a:fillRect/>
          </a:stretch>
        </p:blipFill>
        <p:spPr>
          <a:xfrm>
            <a:off x="4754880" y="4114800"/>
            <a:ext cx="411480" cy="411480"/>
          </a:xfrm>
          <a:prstGeom prst="rect">
            <a:avLst/>
          </a:prstGeom>
        </p:spPr>
      </p:pic>
      <p:sp>
        <p:nvSpPr>
          <p:cNvPr id="12" name="Text 8"/>
          <p:cNvSpPr/>
          <p:nvPr/>
        </p:nvSpPr>
        <p:spPr>
          <a:xfrm>
            <a:off x="5257800" y="4069080"/>
            <a:ext cx="2194560" cy="274320"/>
          </a:xfrm>
          <a:prstGeom prst="rect">
            <a:avLst/>
          </a:prstGeom>
          <a:noFill/>
          <a:ln/>
        </p:spPr>
        <p:txBody>
          <a:bodyPr wrap="square" rtlCol="0" anchor="ctr"/>
          <a:lstStyle/>
          <a:p>
            <a:pPr indent="0" marL="0">
              <a:buNone/>
            </a:pPr>
            <a:r>
              <a:rPr lang="en-US" sz="1100" dirty="0">
                <a:solidFill>
                  <a:srgbClr val="7A6C5D"/>
                </a:solidFill>
                <a:latin typeface="NanumGothic" pitchFamily="34" charset="0"/>
                <a:ea typeface="NanumGothic" pitchFamily="34" charset="-122"/>
                <a:cs typeface="NanumGothic" pitchFamily="34" charset="-120"/>
              </a:rPr>
              <a:t>특화 시각화 분석</a:t>
            </a:r>
            <a:endParaRPr lang="en-US" sz="1100" dirty="0"/>
          </a:p>
        </p:txBody>
      </p:sp>
      <p:sp>
        <p:nvSpPr>
          <p:cNvPr id="13" name="Text 9"/>
          <p:cNvSpPr/>
          <p:nvPr/>
        </p:nvSpPr>
        <p:spPr>
          <a:xfrm>
            <a:off x="5257800" y="4343400"/>
            <a:ext cx="2194560" cy="457200"/>
          </a:xfrm>
          <a:prstGeom prst="rect">
            <a:avLst/>
          </a:prstGeom>
          <a:noFill/>
          <a:ln/>
        </p:spPr>
        <p:txBody>
          <a:bodyPr wrap="square" rtlCol="0" anchor="ctr"/>
          <a:lstStyle/>
          <a:p>
            <a:pPr indent="0" marL="0">
              <a:buNone/>
            </a:pPr>
            <a:r>
              <a:rPr lang="en-US" sz="1800" b="1" dirty="0">
                <a:solidFill>
                  <a:srgbClr val="963B2F"/>
                </a:solidFill>
                <a:latin typeface="Gmarket Sans Bold" pitchFamily="34" charset="0"/>
                <a:ea typeface="Gmarket Sans Bold" pitchFamily="34" charset="-122"/>
                <a:cs typeface="Gmarket Sans Bold" pitchFamily="34" charset="-120"/>
              </a:rPr>
              <a:t>11종 차트</a:t>
            </a:r>
            <a:endParaRPr lang="en-US" sz="1800" dirty="0"/>
          </a:p>
        </p:txBody>
      </p:sp>
      <p:sp>
        <p:nvSpPr>
          <p:cNvPr id="14" name="Shape 10"/>
          <p:cNvSpPr/>
          <p:nvPr/>
        </p:nvSpPr>
        <p:spPr>
          <a:xfrm>
            <a:off x="7863840" y="3931920"/>
            <a:ext cx="3017520" cy="1188720"/>
          </a:xfrm>
          <a:prstGeom prst="roundRect">
            <a:avLst>
              <a:gd name="adj" fmla="val 6154"/>
            </a:avLst>
          </a:prstGeom>
          <a:solidFill>
            <a:srgbClr val="FDF2F0"/>
          </a:solidFill>
          <a:ln w="12700">
            <a:solidFill>
              <a:srgbClr val="B85042"/>
            </a:solidFill>
            <a:prstDash val="solid"/>
          </a:ln>
        </p:spPr>
      </p:sp>
      <p:pic>
        <p:nvPicPr>
          <p:cNvPr id="15" name="Image 2" descr="preencoded.png">    </p:cNvPr>
          <p:cNvPicPr>
            <a:picLocks noChangeAspect="1"/>
          </p:cNvPicPr>
          <p:nvPr/>
        </p:nvPicPr>
        <p:blipFill>
          <a:blip r:embed="rId3"/>
          <a:stretch>
            <a:fillRect/>
          </a:stretch>
        </p:blipFill>
        <p:spPr>
          <a:xfrm>
            <a:off x="8046720" y="4114800"/>
            <a:ext cx="411480" cy="411480"/>
          </a:xfrm>
          <a:prstGeom prst="rect">
            <a:avLst/>
          </a:prstGeom>
        </p:spPr>
      </p:pic>
      <p:sp>
        <p:nvSpPr>
          <p:cNvPr id="16" name="Text 11"/>
          <p:cNvSpPr/>
          <p:nvPr/>
        </p:nvSpPr>
        <p:spPr>
          <a:xfrm>
            <a:off x="8549640" y="4069080"/>
            <a:ext cx="2194560" cy="274320"/>
          </a:xfrm>
          <a:prstGeom prst="rect">
            <a:avLst/>
          </a:prstGeom>
          <a:noFill/>
          <a:ln/>
        </p:spPr>
        <p:txBody>
          <a:bodyPr wrap="square" rtlCol="0" anchor="ctr"/>
          <a:lstStyle/>
          <a:p>
            <a:pPr indent="0" marL="0">
              <a:buNone/>
            </a:pPr>
            <a:r>
              <a:rPr lang="en-US" sz="1100" dirty="0">
                <a:solidFill>
                  <a:srgbClr val="7A6C5D"/>
                </a:solidFill>
                <a:latin typeface="NanumGothic" pitchFamily="34" charset="0"/>
                <a:ea typeface="NanumGothic" pitchFamily="34" charset="-122"/>
                <a:cs typeface="NanumGothic" pitchFamily="34" charset="-120"/>
              </a:rPr>
              <a:t>분석 변수 수</a:t>
            </a:r>
            <a:endParaRPr lang="en-US" sz="1100" dirty="0"/>
          </a:p>
        </p:txBody>
      </p:sp>
      <p:sp>
        <p:nvSpPr>
          <p:cNvPr id="17" name="Text 12"/>
          <p:cNvSpPr/>
          <p:nvPr/>
        </p:nvSpPr>
        <p:spPr>
          <a:xfrm>
            <a:off x="8549640" y="4343400"/>
            <a:ext cx="2194560" cy="457200"/>
          </a:xfrm>
          <a:prstGeom prst="rect">
            <a:avLst/>
          </a:prstGeom>
          <a:noFill/>
          <a:ln/>
        </p:spPr>
        <p:txBody>
          <a:bodyPr wrap="square" rtlCol="0" anchor="ctr"/>
          <a:lstStyle/>
          <a:p>
            <a:pPr indent="0" marL="0">
              <a:buNone/>
            </a:pPr>
            <a:r>
              <a:rPr lang="en-US" sz="1800" b="1" dirty="0">
                <a:solidFill>
                  <a:srgbClr val="963B2F"/>
                </a:solidFill>
                <a:latin typeface="Gmarket Sans Bold" pitchFamily="34" charset="0"/>
                <a:ea typeface="Gmarket Sans Bold" pitchFamily="34" charset="-122"/>
                <a:cs typeface="Gmarket Sans Bold" pitchFamily="34" charset="-120"/>
              </a:rPr>
              <a:t>26개 컬럼</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Executive Summary &amp; 주요 발표 아젠다</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5150815" cy="2011680"/>
          </a:xfrm>
          <a:prstGeom prst="roundRect">
            <a:avLst>
              <a:gd name="adj" fmla="val 3636"/>
            </a:avLst>
          </a:prstGeom>
          <a:solidFill>
            <a:srgbClr val="FFFFFF"/>
          </a:solidFill>
          <a:ln w="12700">
            <a:solidFill>
              <a:srgbClr val="E2DACD"/>
            </a:solidFill>
            <a:prstDash val="solid"/>
          </a:ln>
        </p:spPr>
      </p:sp>
      <p:sp>
        <p:nvSpPr>
          <p:cNvPr id="10" name="Shape 8"/>
          <p:cNvSpPr/>
          <p:nvPr/>
        </p:nvSpPr>
        <p:spPr>
          <a:xfrm>
            <a:off x="1005840" y="1737360"/>
            <a:ext cx="731520" cy="731520"/>
          </a:xfrm>
          <a:prstGeom prst="roundRect">
            <a:avLst>
              <a:gd name="adj" fmla="val 10000"/>
            </a:avLst>
          </a:prstGeom>
          <a:solidFill>
            <a:srgbClr val="FDF2F0"/>
          </a:solidFill>
          <a:ln w="12700">
            <a:solidFill>
              <a:srgbClr val="B85042"/>
            </a:solidFill>
            <a:prstDash val="solid"/>
          </a:ln>
        </p:spPr>
      </p:sp>
      <p:pic>
        <p:nvPicPr>
          <p:cNvPr id="11" name="Image 0" descr="preencoded.png">    </p:cNvPr>
          <p:cNvPicPr>
            <a:picLocks noChangeAspect="1"/>
          </p:cNvPicPr>
          <p:nvPr/>
        </p:nvPicPr>
        <p:blipFill>
          <a:blip r:embed="rId1"/>
          <a:stretch>
            <a:fillRect/>
          </a:stretch>
        </p:blipFill>
        <p:spPr>
          <a:xfrm>
            <a:off x="1143000" y="1874520"/>
            <a:ext cx="457200" cy="457200"/>
          </a:xfrm>
          <a:prstGeom prst="rect">
            <a:avLst/>
          </a:prstGeom>
        </p:spPr>
      </p:pic>
      <p:sp>
        <p:nvSpPr>
          <p:cNvPr id="12" name="Text 9"/>
          <p:cNvSpPr/>
          <p:nvPr/>
        </p:nvSpPr>
        <p:spPr>
          <a:xfrm>
            <a:off x="1920240" y="1737360"/>
            <a:ext cx="3657600" cy="36576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분석 개요 및 데이터 검증</a:t>
            </a:r>
            <a:endParaRPr lang="en-US" sz="1600" dirty="0"/>
          </a:p>
        </p:txBody>
      </p:sp>
      <p:sp>
        <p:nvSpPr>
          <p:cNvPr id="13" name="Text 10"/>
          <p:cNvSpPr/>
          <p:nvPr/>
        </p:nvSpPr>
        <p:spPr>
          <a:xfrm>
            <a:off x="1920240" y="2194560"/>
            <a:ext cx="3657600" cy="1005840"/>
          </a:xfrm>
          <a:prstGeom prst="rect">
            <a:avLst/>
          </a:prstGeom>
          <a:noFill/>
          <a:ln/>
        </p:spPr>
        <p:txBody>
          <a:bodyPr wrap="square" rtlCol="0" anchor="ctr"/>
          <a:lstStyle/>
          <a:p>
            <a:pPr indent="0" marL="0">
              <a:lnSpc>
                <a:spcPts val="1800"/>
              </a:lnSpc>
              <a:buNone/>
            </a:pPr>
            <a:r>
              <a:rPr lang="en-US" sz="1250" dirty="0">
                <a:solidFill>
                  <a:srgbClr val="7A6C5D"/>
                </a:solidFill>
                <a:latin typeface="NanumGothic" pitchFamily="34" charset="0"/>
                <a:ea typeface="NanumGothic" pitchFamily="34" charset="-122"/>
                <a:cs typeface="NanumGothic" pitchFamily="34" charset="-120"/>
              </a:rPr>
              <a:t>1,000행 x 26열 데이터 구조, 데이터 무결성 100% 확보, 결측치 원인 정의</a:t>
            </a:r>
            <a:endParaRPr lang="en-US" sz="1250" dirty="0"/>
          </a:p>
        </p:txBody>
      </p:sp>
      <p:sp>
        <p:nvSpPr>
          <p:cNvPr id="14" name="Shape 11"/>
          <p:cNvSpPr/>
          <p:nvPr/>
        </p:nvSpPr>
        <p:spPr>
          <a:xfrm>
            <a:off x="6126480" y="1463040"/>
            <a:ext cx="5150815" cy="2011680"/>
          </a:xfrm>
          <a:prstGeom prst="roundRect">
            <a:avLst>
              <a:gd name="adj" fmla="val 3636"/>
            </a:avLst>
          </a:prstGeom>
          <a:solidFill>
            <a:srgbClr val="FFFFFF"/>
          </a:solidFill>
          <a:ln w="12700">
            <a:solidFill>
              <a:srgbClr val="E2DACD"/>
            </a:solidFill>
            <a:prstDash val="solid"/>
          </a:ln>
        </p:spPr>
      </p:sp>
      <p:sp>
        <p:nvSpPr>
          <p:cNvPr id="15" name="Shape 12"/>
          <p:cNvSpPr/>
          <p:nvPr/>
        </p:nvSpPr>
        <p:spPr>
          <a:xfrm>
            <a:off x="6400800" y="1737360"/>
            <a:ext cx="731520" cy="731520"/>
          </a:xfrm>
          <a:prstGeom prst="roundRect">
            <a:avLst>
              <a:gd name="adj" fmla="val 10000"/>
            </a:avLst>
          </a:prstGeom>
          <a:solidFill>
            <a:srgbClr val="FDF2F0"/>
          </a:solidFill>
          <a:ln w="12700">
            <a:solidFill>
              <a:srgbClr val="B85042"/>
            </a:solidFill>
            <a:prstDash val="solid"/>
          </a:ln>
        </p:spPr>
      </p:sp>
      <p:pic>
        <p:nvPicPr>
          <p:cNvPr id="16" name="Image 1" descr="preencoded.png">    </p:cNvPr>
          <p:cNvPicPr>
            <a:picLocks noChangeAspect="1"/>
          </p:cNvPicPr>
          <p:nvPr/>
        </p:nvPicPr>
        <p:blipFill>
          <a:blip r:embed="rId2"/>
          <a:stretch>
            <a:fillRect/>
          </a:stretch>
        </p:blipFill>
        <p:spPr>
          <a:xfrm>
            <a:off x="6537960" y="1874520"/>
            <a:ext cx="457200" cy="457200"/>
          </a:xfrm>
          <a:prstGeom prst="rect">
            <a:avLst/>
          </a:prstGeom>
        </p:spPr>
      </p:pic>
      <p:sp>
        <p:nvSpPr>
          <p:cNvPr id="17" name="Text 13"/>
          <p:cNvSpPr/>
          <p:nvPr/>
        </p:nvSpPr>
        <p:spPr>
          <a:xfrm>
            <a:off x="7315200" y="1737360"/>
            <a:ext cx="3657600" cy="36576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수치형 &amp; 범주형 기술통계</a:t>
            </a:r>
            <a:endParaRPr lang="en-US" sz="1600" dirty="0"/>
          </a:p>
        </p:txBody>
      </p:sp>
      <p:sp>
        <p:nvSpPr>
          <p:cNvPr id="18" name="Text 14"/>
          <p:cNvSpPr/>
          <p:nvPr/>
        </p:nvSpPr>
        <p:spPr>
          <a:xfrm>
            <a:off x="7315200" y="2194560"/>
            <a:ext cx="3657600" cy="1005840"/>
          </a:xfrm>
          <a:prstGeom prst="rect">
            <a:avLst/>
          </a:prstGeom>
          <a:noFill/>
          <a:ln/>
        </p:spPr>
        <p:txBody>
          <a:bodyPr wrap="square" rtlCol="0" anchor="ctr"/>
          <a:lstStyle/>
          <a:p>
            <a:pPr indent="0" marL="0">
              <a:lnSpc>
                <a:spcPts val="1800"/>
              </a:lnSpc>
              <a:buNone/>
            </a:pPr>
            <a:r>
              <a:rPr lang="en-US" sz="1250" dirty="0">
                <a:solidFill>
                  <a:srgbClr val="7A6C5D"/>
                </a:solidFill>
                <a:latin typeface="NanumGothic" pitchFamily="34" charset="0"/>
                <a:ea typeface="NanumGothic" pitchFamily="34" charset="-122"/>
                <a:cs typeface="NanumGothic" pitchFamily="34" charset="-120"/>
              </a:rPr>
              <a:t>가격 구조, 롱테일 흥행 비대칭성, 독자 평점/리뷰 동역학, 출판사 독과점</a:t>
            </a:r>
            <a:endParaRPr lang="en-US" sz="1250" dirty="0"/>
          </a:p>
        </p:txBody>
      </p:sp>
      <p:sp>
        <p:nvSpPr>
          <p:cNvPr id="19" name="Shape 15"/>
          <p:cNvSpPr/>
          <p:nvPr/>
        </p:nvSpPr>
        <p:spPr>
          <a:xfrm>
            <a:off x="731520" y="3749040"/>
            <a:ext cx="5150815" cy="2011680"/>
          </a:xfrm>
          <a:prstGeom prst="roundRect">
            <a:avLst>
              <a:gd name="adj" fmla="val 3636"/>
            </a:avLst>
          </a:prstGeom>
          <a:solidFill>
            <a:srgbClr val="FFFFFF"/>
          </a:solidFill>
          <a:ln w="12700">
            <a:solidFill>
              <a:srgbClr val="E2DACD"/>
            </a:solidFill>
            <a:prstDash val="solid"/>
          </a:ln>
        </p:spPr>
      </p:sp>
      <p:sp>
        <p:nvSpPr>
          <p:cNvPr id="20" name="Shape 16"/>
          <p:cNvSpPr/>
          <p:nvPr/>
        </p:nvSpPr>
        <p:spPr>
          <a:xfrm>
            <a:off x="1005840" y="4023360"/>
            <a:ext cx="731520" cy="731520"/>
          </a:xfrm>
          <a:prstGeom prst="roundRect">
            <a:avLst>
              <a:gd name="adj" fmla="val 10000"/>
            </a:avLst>
          </a:prstGeom>
          <a:solidFill>
            <a:srgbClr val="FDF2F0"/>
          </a:solidFill>
          <a:ln w="12700">
            <a:solidFill>
              <a:srgbClr val="B85042"/>
            </a:solidFill>
            <a:prstDash val="solid"/>
          </a:ln>
        </p:spPr>
      </p:sp>
      <p:sp>
        <p:nvSpPr>
          <p:cNvPr id="21" name="Text 17"/>
          <p:cNvSpPr/>
          <p:nvPr/>
        </p:nvSpPr>
        <p:spPr>
          <a:xfrm>
            <a:off x="1920240" y="4023360"/>
            <a:ext cx="3657600" cy="36576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11종 특화 차트 심층 해석</a:t>
            </a:r>
            <a:endParaRPr lang="en-US" sz="1600" dirty="0"/>
          </a:p>
        </p:txBody>
      </p:sp>
      <p:sp>
        <p:nvSpPr>
          <p:cNvPr id="22" name="Text 18"/>
          <p:cNvSpPr/>
          <p:nvPr/>
        </p:nvSpPr>
        <p:spPr>
          <a:xfrm>
            <a:off x="1920240" y="4480560"/>
            <a:ext cx="3657600" cy="1005840"/>
          </a:xfrm>
          <a:prstGeom prst="rect">
            <a:avLst/>
          </a:prstGeom>
          <a:noFill/>
          <a:ln/>
        </p:spPr>
        <p:txBody>
          <a:bodyPr wrap="square" rtlCol="0" anchor="ctr"/>
          <a:lstStyle/>
          <a:p>
            <a:pPr indent="0" marL="0">
              <a:lnSpc>
                <a:spcPts val="1800"/>
              </a:lnSpc>
              <a:buNone/>
            </a:pPr>
            <a:r>
              <a:rPr lang="en-US" sz="1250" dirty="0">
                <a:solidFill>
                  <a:srgbClr val="7A6C5D"/>
                </a:solidFill>
                <a:latin typeface="NanumGothic" pitchFamily="34" charset="0"/>
                <a:ea typeface="NanumGothic" pitchFamily="34" charset="-122"/>
                <a:cs typeface="NanumGothic" pitchFamily="34" charset="-120"/>
              </a:rPr>
              <a:t>판매지수, Boxplot, 할인율, 상위 30 출판사/저자, 시계열, 상관관계, TF-IDF</a:t>
            </a:r>
            <a:endParaRPr lang="en-US" sz="1250" dirty="0"/>
          </a:p>
        </p:txBody>
      </p:sp>
      <p:sp>
        <p:nvSpPr>
          <p:cNvPr id="23" name="Shape 19"/>
          <p:cNvSpPr/>
          <p:nvPr/>
        </p:nvSpPr>
        <p:spPr>
          <a:xfrm>
            <a:off x="6126480" y="3749040"/>
            <a:ext cx="5150815" cy="2011680"/>
          </a:xfrm>
          <a:prstGeom prst="roundRect">
            <a:avLst>
              <a:gd name="adj" fmla="val 3636"/>
            </a:avLst>
          </a:prstGeom>
          <a:solidFill>
            <a:srgbClr val="FFFFFF"/>
          </a:solidFill>
          <a:ln w="12700">
            <a:solidFill>
              <a:srgbClr val="E2DACD"/>
            </a:solidFill>
            <a:prstDash val="solid"/>
          </a:ln>
        </p:spPr>
      </p:sp>
      <p:sp>
        <p:nvSpPr>
          <p:cNvPr id="24" name="Shape 20"/>
          <p:cNvSpPr/>
          <p:nvPr/>
        </p:nvSpPr>
        <p:spPr>
          <a:xfrm>
            <a:off x="6400800" y="4023360"/>
            <a:ext cx="731520" cy="731520"/>
          </a:xfrm>
          <a:prstGeom prst="roundRect">
            <a:avLst>
              <a:gd name="adj" fmla="val 10000"/>
            </a:avLst>
          </a:prstGeom>
          <a:solidFill>
            <a:srgbClr val="FDF2F0"/>
          </a:solidFill>
          <a:ln w="12700">
            <a:solidFill>
              <a:srgbClr val="B85042"/>
            </a:solidFill>
            <a:prstDash val="solid"/>
          </a:ln>
        </p:spPr>
      </p:sp>
      <p:pic>
        <p:nvPicPr>
          <p:cNvPr id="25" name="Image 2" descr="preencoded.png">    </p:cNvPr>
          <p:cNvPicPr>
            <a:picLocks noChangeAspect="1"/>
          </p:cNvPicPr>
          <p:nvPr/>
        </p:nvPicPr>
        <p:blipFill>
          <a:blip r:embed="rId3"/>
          <a:stretch>
            <a:fillRect/>
          </a:stretch>
        </p:blipFill>
        <p:spPr>
          <a:xfrm>
            <a:off x="6537960" y="4160520"/>
            <a:ext cx="457200" cy="457200"/>
          </a:xfrm>
          <a:prstGeom prst="rect">
            <a:avLst/>
          </a:prstGeom>
        </p:spPr>
      </p:pic>
      <p:sp>
        <p:nvSpPr>
          <p:cNvPr id="26" name="Text 21"/>
          <p:cNvSpPr/>
          <p:nvPr/>
        </p:nvSpPr>
        <p:spPr>
          <a:xfrm>
            <a:off x="7315200" y="4023360"/>
            <a:ext cx="3657600" cy="36576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종합 인사이트 &amp; Action Plan</a:t>
            </a:r>
            <a:endParaRPr lang="en-US" sz="1600" dirty="0"/>
          </a:p>
        </p:txBody>
      </p:sp>
      <p:sp>
        <p:nvSpPr>
          <p:cNvPr id="27" name="Text 22"/>
          <p:cNvSpPr/>
          <p:nvPr/>
        </p:nvSpPr>
        <p:spPr>
          <a:xfrm>
            <a:off x="7315200" y="4480560"/>
            <a:ext cx="3657600" cy="1005840"/>
          </a:xfrm>
          <a:prstGeom prst="rect">
            <a:avLst/>
          </a:prstGeom>
          <a:noFill/>
          <a:ln/>
        </p:spPr>
        <p:txBody>
          <a:bodyPr wrap="square" rtlCol="0" anchor="ctr"/>
          <a:lstStyle/>
          <a:p>
            <a:pPr indent="0" marL="0">
              <a:lnSpc>
                <a:spcPts val="1800"/>
              </a:lnSpc>
              <a:buNone/>
            </a:pPr>
            <a:r>
              <a:rPr lang="en-US" sz="1250" dirty="0">
                <a:solidFill>
                  <a:srgbClr val="7A6C5D"/>
                </a:solidFill>
                <a:latin typeface="NanumGothic" pitchFamily="34" charset="0"/>
                <a:ea typeface="NanumGothic" pitchFamily="34" charset="-122"/>
                <a:cs typeface="NanumGothic" pitchFamily="34" charset="-120"/>
              </a:rPr>
              <a:t>20년차 분석가의 4대 핵심 파인딩, 출판사/유통사 3단계 실행 로드맵</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1.1 데이터 크기, 차원 &amp; 무결성 100% 검증</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4389120" cy="1371600"/>
          </a:xfrm>
          <a:prstGeom prst="roundRect">
            <a:avLst>
              <a:gd name="adj" fmla="val 5333"/>
            </a:avLst>
          </a:prstGeom>
          <a:solidFill>
            <a:srgbClr val="FFFFFF"/>
          </a:solidFill>
          <a:ln w="19050">
            <a:solidFill>
              <a:srgbClr val="E2DACD"/>
            </a:solidFill>
            <a:prstDash val="solid"/>
          </a:ln>
        </p:spPr>
      </p:sp>
      <p:pic>
        <p:nvPicPr>
          <p:cNvPr id="10" name="Image 0" descr="preencoded.png">    </p:cNvPr>
          <p:cNvPicPr>
            <a:picLocks noChangeAspect="1"/>
          </p:cNvPicPr>
          <p:nvPr/>
        </p:nvPicPr>
        <p:blipFill>
          <a:blip r:embed="rId1"/>
          <a:stretch>
            <a:fillRect/>
          </a:stretch>
        </p:blipFill>
        <p:spPr>
          <a:xfrm>
            <a:off x="1005840" y="1783080"/>
            <a:ext cx="457200" cy="457200"/>
          </a:xfrm>
          <a:prstGeom prst="rect">
            <a:avLst/>
          </a:prstGeom>
        </p:spPr>
      </p:pic>
      <p:sp>
        <p:nvSpPr>
          <p:cNvPr id="11" name="Text 8"/>
          <p:cNvSpPr/>
          <p:nvPr/>
        </p:nvSpPr>
        <p:spPr>
          <a:xfrm>
            <a:off x="1554480" y="1645920"/>
            <a:ext cx="3383280" cy="274320"/>
          </a:xfrm>
          <a:prstGeom prst="rect">
            <a:avLst/>
          </a:prstGeom>
          <a:noFill/>
          <a:ln/>
        </p:spPr>
        <p:txBody>
          <a:bodyPr wrap="square" rtlCol="0" anchor="ctr"/>
          <a:lstStyle/>
          <a:p>
            <a:pPr indent="0" marL="0">
              <a:buNone/>
            </a:pPr>
            <a:r>
              <a:rPr lang="en-US" sz="1150" dirty="0">
                <a:solidFill>
                  <a:srgbClr val="7A6C5D"/>
                </a:solidFill>
                <a:latin typeface="NanumGothic" pitchFamily="34" charset="0"/>
                <a:ea typeface="NanumGothic" pitchFamily="34" charset="-122"/>
                <a:cs typeface="NanumGothic" pitchFamily="34" charset="-120"/>
              </a:rPr>
              <a:t>전체 데이터 행 수 (Rows)</a:t>
            </a:r>
            <a:endParaRPr lang="en-US" sz="1150" dirty="0"/>
          </a:p>
        </p:txBody>
      </p:sp>
      <p:sp>
        <p:nvSpPr>
          <p:cNvPr id="12" name="Text 9"/>
          <p:cNvSpPr/>
          <p:nvPr/>
        </p:nvSpPr>
        <p:spPr>
          <a:xfrm>
            <a:off x="1554480" y="1920240"/>
            <a:ext cx="3383280" cy="457200"/>
          </a:xfrm>
          <a:prstGeom prst="rect">
            <a:avLst/>
          </a:prstGeom>
          <a:noFill/>
          <a:ln/>
        </p:spPr>
        <p:txBody>
          <a:bodyPr wrap="square" rtlCol="0" anchor="ctr"/>
          <a:lstStyle/>
          <a:p>
            <a:pPr indent="0" marL="0">
              <a:buNone/>
            </a:pPr>
            <a:r>
              <a:rPr lang="en-US" sz="2000" b="1" dirty="0">
                <a:solidFill>
                  <a:srgbClr val="3D3530"/>
                </a:solidFill>
                <a:latin typeface="Gmarket Sans Bold" pitchFamily="34" charset="0"/>
                <a:ea typeface="Gmarket Sans Bold" pitchFamily="34" charset="-122"/>
                <a:cs typeface="Gmarket Sans Bold" pitchFamily="34" charset="-120"/>
              </a:rPr>
              <a:t>1,000 건</a:t>
            </a:r>
            <a:endParaRPr lang="en-US" sz="2000" dirty="0"/>
          </a:p>
        </p:txBody>
      </p:sp>
      <p:sp>
        <p:nvSpPr>
          <p:cNvPr id="13" name="Text 10"/>
          <p:cNvSpPr/>
          <p:nvPr/>
        </p:nvSpPr>
        <p:spPr>
          <a:xfrm>
            <a:off x="1554480" y="2423160"/>
            <a:ext cx="3383280" cy="274320"/>
          </a:xfrm>
          <a:prstGeom prst="rect">
            <a:avLst/>
          </a:prstGeom>
          <a:noFill/>
          <a:ln/>
        </p:spPr>
        <p:txBody>
          <a:bodyPr wrap="square" rtlCol="0" anchor="ctr"/>
          <a:lstStyle/>
          <a:p>
            <a:pPr indent="0" marL="0">
              <a:buNone/>
            </a:pPr>
            <a:r>
              <a:rPr lang="en-US" sz="1100" dirty="0">
                <a:solidFill>
                  <a:srgbClr val="3D3530"/>
                </a:solidFill>
                <a:latin typeface="NanumGothic" pitchFamily="34" charset="0"/>
                <a:ea typeface="NanumGothic" pitchFamily="34" charset="-122"/>
                <a:cs typeface="NanumGothic" pitchFamily="34" charset="-120"/>
              </a:rPr>
              <a:t>YES24 베스트셀러 표본</a:t>
            </a:r>
            <a:endParaRPr lang="en-US" sz="1100" dirty="0"/>
          </a:p>
        </p:txBody>
      </p:sp>
      <p:sp>
        <p:nvSpPr>
          <p:cNvPr id="14" name="Shape 11"/>
          <p:cNvSpPr/>
          <p:nvPr/>
        </p:nvSpPr>
        <p:spPr>
          <a:xfrm>
            <a:off x="731520" y="3017520"/>
            <a:ext cx="4389120" cy="1371600"/>
          </a:xfrm>
          <a:prstGeom prst="roundRect">
            <a:avLst>
              <a:gd name="adj" fmla="val 5333"/>
            </a:avLst>
          </a:prstGeom>
          <a:solidFill>
            <a:srgbClr val="FFFFFF"/>
          </a:solidFill>
          <a:ln w="19050">
            <a:solidFill>
              <a:srgbClr val="E2DACD"/>
            </a:solidFill>
            <a:prstDash val="solid"/>
          </a:ln>
        </p:spPr>
      </p:sp>
      <p:sp>
        <p:nvSpPr>
          <p:cNvPr id="15" name="Text 12"/>
          <p:cNvSpPr/>
          <p:nvPr/>
        </p:nvSpPr>
        <p:spPr>
          <a:xfrm>
            <a:off x="1554480" y="3200400"/>
            <a:ext cx="3383280" cy="274320"/>
          </a:xfrm>
          <a:prstGeom prst="rect">
            <a:avLst/>
          </a:prstGeom>
          <a:noFill/>
          <a:ln/>
        </p:spPr>
        <p:txBody>
          <a:bodyPr wrap="square" rtlCol="0" anchor="ctr"/>
          <a:lstStyle/>
          <a:p>
            <a:pPr indent="0" marL="0">
              <a:buNone/>
            </a:pPr>
            <a:r>
              <a:rPr lang="en-US" sz="1150" dirty="0">
                <a:solidFill>
                  <a:srgbClr val="7A6C5D"/>
                </a:solidFill>
                <a:latin typeface="NanumGothic" pitchFamily="34" charset="0"/>
                <a:ea typeface="NanumGothic" pitchFamily="34" charset="-122"/>
                <a:cs typeface="NanumGothic" pitchFamily="34" charset="-120"/>
              </a:rPr>
              <a:t>전체 변수 열 수 (Columns)</a:t>
            </a:r>
            <a:endParaRPr lang="en-US" sz="1150" dirty="0"/>
          </a:p>
        </p:txBody>
      </p:sp>
      <p:sp>
        <p:nvSpPr>
          <p:cNvPr id="16" name="Text 13"/>
          <p:cNvSpPr/>
          <p:nvPr/>
        </p:nvSpPr>
        <p:spPr>
          <a:xfrm>
            <a:off x="1554480" y="3474720"/>
            <a:ext cx="3383280" cy="457200"/>
          </a:xfrm>
          <a:prstGeom prst="rect">
            <a:avLst/>
          </a:prstGeom>
          <a:noFill/>
          <a:ln/>
        </p:spPr>
        <p:txBody>
          <a:bodyPr wrap="square" rtlCol="0" anchor="ctr"/>
          <a:lstStyle/>
          <a:p>
            <a:pPr indent="0" marL="0">
              <a:buNone/>
            </a:pPr>
            <a:r>
              <a:rPr lang="en-US" sz="2000" b="1" dirty="0">
                <a:solidFill>
                  <a:srgbClr val="3D3530"/>
                </a:solidFill>
                <a:latin typeface="Gmarket Sans Bold" pitchFamily="34" charset="0"/>
                <a:ea typeface="Gmarket Sans Bold" pitchFamily="34" charset="-122"/>
                <a:cs typeface="Gmarket Sans Bold" pitchFamily="34" charset="-120"/>
              </a:rPr>
              <a:t>26 개</a:t>
            </a:r>
            <a:endParaRPr lang="en-US" sz="2000" dirty="0"/>
          </a:p>
        </p:txBody>
      </p:sp>
      <p:sp>
        <p:nvSpPr>
          <p:cNvPr id="17" name="Text 14"/>
          <p:cNvSpPr/>
          <p:nvPr/>
        </p:nvSpPr>
        <p:spPr>
          <a:xfrm>
            <a:off x="1554480" y="3977640"/>
            <a:ext cx="3383280" cy="274320"/>
          </a:xfrm>
          <a:prstGeom prst="rect">
            <a:avLst/>
          </a:prstGeom>
          <a:noFill/>
          <a:ln/>
        </p:spPr>
        <p:txBody>
          <a:bodyPr wrap="square" rtlCol="0" anchor="ctr"/>
          <a:lstStyle/>
          <a:p>
            <a:pPr indent="0" marL="0">
              <a:buNone/>
            </a:pPr>
            <a:r>
              <a:rPr lang="en-US" sz="1100" dirty="0">
                <a:solidFill>
                  <a:srgbClr val="3D3530"/>
                </a:solidFill>
                <a:latin typeface="NanumGothic" pitchFamily="34" charset="0"/>
                <a:ea typeface="NanumGothic" pitchFamily="34" charset="-122"/>
                <a:cs typeface="NanumGothic" pitchFamily="34" charset="-120"/>
              </a:rPr>
              <a:t>원시 16개 + 파생 10개</a:t>
            </a:r>
            <a:endParaRPr lang="en-US" sz="1100" dirty="0"/>
          </a:p>
        </p:txBody>
      </p:sp>
      <p:sp>
        <p:nvSpPr>
          <p:cNvPr id="18" name="Shape 15"/>
          <p:cNvSpPr/>
          <p:nvPr/>
        </p:nvSpPr>
        <p:spPr>
          <a:xfrm>
            <a:off x="731520" y="4572000"/>
            <a:ext cx="4389120" cy="1371600"/>
          </a:xfrm>
          <a:prstGeom prst="roundRect">
            <a:avLst>
              <a:gd name="adj" fmla="val 5333"/>
            </a:avLst>
          </a:prstGeom>
          <a:solidFill>
            <a:srgbClr val="FDF2F0"/>
          </a:solidFill>
          <a:ln w="19050">
            <a:solidFill>
              <a:srgbClr val="B85042"/>
            </a:solidFill>
            <a:prstDash val="solid"/>
          </a:ln>
        </p:spPr>
      </p:sp>
      <p:pic>
        <p:nvPicPr>
          <p:cNvPr id="19" name="Image 1" descr="preencoded.png">    </p:cNvPr>
          <p:cNvPicPr>
            <a:picLocks noChangeAspect="1"/>
          </p:cNvPicPr>
          <p:nvPr/>
        </p:nvPicPr>
        <p:blipFill>
          <a:blip r:embed="rId2"/>
          <a:stretch>
            <a:fillRect/>
          </a:stretch>
        </p:blipFill>
        <p:spPr>
          <a:xfrm>
            <a:off x="1005840" y="4892040"/>
            <a:ext cx="457200" cy="457200"/>
          </a:xfrm>
          <a:prstGeom prst="rect">
            <a:avLst/>
          </a:prstGeom>
        </p:spPr>
      </p:pic>
      <p:sp>
        <p:nvSpPr>
          <p:cNvPr id="20" name="Text 16"/>
          <p:cNvSpPr/>
          <p:nvPr/>
        </p:nvSpPr>
        <p:spPr>
          <a:xfrm>
            <a:off x="1554480" y="4754880"/>
            <a:ext cx="3383280" cy="274320"/>
          </a:xfrm>
          <a:prstGeom prst="rect">
            <a:avLst/>
          </a:prstGeom>
          <a:noFill/>
          <a:ln/>
        </p:spPr>
        <p:txBody>
          <a:bodyPr wrap="square" rtlCol="0" anchor="ctr"/>
          <a:lstStyle/>
          <a:p>
            <a:pPr indent="0" marL="0">
              <a:buNone/>
            </a:pPr>
            <a:r>
              <a:rPr lang="en-US" sz="1150" dirty="0">
                <a:solidFill>
                  <a:srgbClr val="7A6C5D"/>
                </a:solidFill>
                <a:latin typeface="NanumGothic" pitchFamily="34" charset="0"/>
                <a:ea typeface="NanumGothic" pitchFamily="34" charset="-122"/>
                <a:cs typeface="NanumGothic" pitchFamily="34" charset="-120"/>
              </a:rPr>
              <a:t>중복 데이터 (Duplicates)</a:t>
            </a:r>
            <a:endParaRPr lang="en-US" sz="1150" dirty="0"/>
          </a:p>
        </p:txBody>
      </p:sp>
      <p:sp>
        <p:nvSpPr>
          <p:cNvPr id="21" name="Text 17"/>
          <p:cNvSpPr/>
          <p:nvPr/>
        </p:nvSpPr>
        <p:spPr>
          <a:xfrm>
            <a:off x="1554480" y="5029200"/>
            <a:ext cx="3383280" cy="457200"/>
          </a:xfrm>
          <a:prstGeom prst="rect">
            <a:avLst/>
          </a:prstGeom>
          <a:noFill/>
          <a:ln/>
        </p:spPr>
        <p:txBody>
          <a:bodyPr wrap="square" rtlCol="0" anchor="ctr"/>
          <a:lstStyle/>
          <a:p>
            <a:pPr indent="0" marL="0">
              <a:buNone/>
            </a:pPr>
            <a:r>
              <a:rPr lang="en-US" sz="2000" b="1" dirty="0">
                <a:solidFill>
                  <a:srgbClr val="963B2F"/>
                </a:solidFill>
                <a:latin typeface="Gmarket Sans Bold" pitchFamily="34" charset="0"/>
                <a:ea typeface="Gmarket Sans Bold" pitchFamily="34" charset="-122"/>
                <a:cs typeface="Gmarket Sans Bold" pitchFamily="34" charset="-120"/>
              </a:rPr>
              <a:t>0 건 (0.0%)</a:t>
            </a:r>
            <a:endParaRPr lang="en-US" sz="2000" dirty="0"/>
          </a:p>
        </p:txBody>
      </p:sp>
      <p:sp>
        <p:nvSpPr>
          <p:cNvPr id="22" name="Text 18"/>
          <p:cNvSpPr/>
          <p:nvPr/>
        </p:nvSpPr>
        <p:spPr>
          <a:xfrm>
            <a:off x="1554480" y="5532120"/>
            <a:ext cx="3383280" cy="274320"/>
          </a:xfrm>
          <a:prstGeom prst="rect">
            <a:avLst/>
          </a:prstGeom>
          <a:noFill/>
          <a:ln/>
        </p:spPr>
        <p:txBody>
          <a:bodyPr wrap="square" rtlCol="0" anchor="ctr"/>
          <a:lstStyle/>
          <a:p>
            <a:pPr indent="0" marL="0">
              <a:buNone/>
            </a:pPr>
            <a:r>
              <a:rPr lang="en-US" sz="1100" dirty="0">
                <a:solidFill>
                  <a:srgbClr val="3D3530"/>
                </a:solidFill>
                <a:latin typeface="NanumGothic" pitchFamily="34" charset="0"/>
                <a:ea typeface="NanumGothic" pitchFamily="34" charset="-122"/>
                <a:cs typeface="NanumGothic" pitchFamily="34" charset="-120"/>
              </a:rPr>
              <a:t>무결성 100% 확보</a:t>
            </a:r>
            <a:endParaRPr lang="en-US" sz="1100" dirty="0"/>
          </a:p>
        </p:txBody>
      </p:sp>
      <p:sp>
        <p:nvSpPr>
          <p:cNvPr id="23" name="Shape 19"/>
          <p:cNvSpPr/>
          <p:nvPr/>
        </p:nvSpPr>
        <p:spPr>
          <a:xfrm>
            <a:off x="5394960" y="1463040"/>
            <a:ext cx="6065215" cy="4480560"/>
          </a:xfrm>
          <a:prstGeom prst="roundRect">
            <a:avLst>
              <a:gd name="adj" fmla="val 1633"/>
            </a:avLst>
          </a:prstGeom>
          <a:solidFill>
            <a:srgbClr val="FFFFFF"/>
          </a:solidFill>
          <a:ln w="12700">
            <a:solidFill>
              <a:srgbClr val="E2DACD"/>
            </a:solidFill>
            <a:prstDash val="solid"/>
          </a:ln>
        </p:spPr>
      </p:sp>
      <p:sp>
        <p:nvSpPr>
          <p:cNvPr id="24" name="Text 20"/>
          <p:cNvSpPr/>
          <p:nvPr/>
        </p:nvSpPr>
        <p:spPr>
          <a:xfrm>
            <a:off x="5669280" y="1737360"/>
            <a:ext cx="5486400" cy="365760"/>
          </a:xfrm>
          <a:prstGeom prst="rect">
            <a:avLst/>
          </a:prstGeom>
          <a:noFill/>
          <a:ln/>
        </p:spPr>
        <p:txBody>
          <a:bodyPr wrap="square" rtlCol="0" anchor="ctr"/>
          <a:lstStyle/>
          <a:p>
            <a:pPr indent="0" marL="0">
              <a:buNone/>
            </a:pPr>
            <a:r>
              <a:rPr lang="en-US" sz="1700" b="1" dirty="0">
                <a:solidFill>
                  <a:srgbClr val="3D3530"/>
                </a:solidFill>
                <a:latin typeface="Gmarket Sans Bold" pitchFamily="34" charset="0"/>
                <a:ea typeface="Gmarket Sans Bold" pitchFamily="34" charset="-122"/>
                <a:cs typeface="Gmarket Sans Bold" pitchFamily="34" charset="-120"/>
              </a:rPr>
              <a:t>데이터 수집 &amp; 정제 세부 프로세스</a:t>
            </a:r>
            <a:endParaRPr lang="en-US" sz="1700" dirty="0"/>
          </a:p>
        </p:txBody>
      </p:sp>
      <p:sp>
        <p:nvSpPr>
          <p:cNvPr id="25" name="Shape 21"/>
          <p:cNvSpPr/>
          <p:nvPr/>
        </p:nvSpPr>
        <p:spPr>
          <a:xfrm>
            <a:off x="5669280" y="2267712"/>
            <a:ext cx="228600" cy="228600"/>
          </a:xfrm>
          <a:prstGeom prst="ellipse">
            <a:avLst/>
          </a:prstGeom>
          <a:solidFill>
            <a:srgbClr val="B85042"/>
          </a:solidFill>
          <a:ln/>
        </p:spPr>
      </p:sp>
      <p:sp>
        <p:nvSpPr>
          <p:cNvPr id="26" name="Text 22"/>
          <p:cNvSpPr/>
          <p:nvPr/>
        </p:nvSpPr>
        <p:spPr>
          <a:xfrm>
            <a:off x="6035040" y="2194560"/>
            <a:ext cx="5120640" cy="274320"/>
          </a:xfrm>
          <a:prstGeom prst="rect">
            <a:avLst/>
          </a:prstGeom>
          <a:noFill/>
          <a:ln/>
        </p:spPr>
        <p:txBody>
          <a:bodyPr wrap="square" rtlCol="0" anchor="ctr"/>
          <a:lstStyle/>
          <a:p>
            <a:pPr indent="0" marL="0">
              <a:buNone/>
            </a:pPr>
            <a:r>
              <a:rPr lang="en-US" sz="1350" b="1" dirty="0">
                <a:solidFill>
                  <a:srgbClr val="3D3530"/>
                </a:solidFill>
                <a:latin typeface="Gmarket Sans Bold" pitchFamily="34" charset="0"/>
                <a:ea typeface="Gmarket Sans Bold" pitchFamily="34" charset="-122"/>
                <a:cs typeface="Gmarket Sans Bold" pitchFamily="34" charset="-120"/>
              </a:rPr>
              <a:t>1. 수집 무결성 검증</a:t>
            </a:r>
            <a:endParaRPr lang="en-US" sz="1350" dirty="0"/>
          </a:p>
        </p:txBody>
      </p:sp>
      <p:sp>
        <p:nvSpPr>
          <p:cNvPr id="27" name="Text 23"/>
          <p:cNvSpPr/>
          <p:nvPr/>
        </p:nvSpPr>
        <p:spPr>
          <a:xfrm>
            <a:off x="6035040" y="2468880"/>
            <a:ext cx="5120640" cy="548640"/>
          </a:xfrm>
          <a:prstGeom prst="rect">
            <a:avLst/>
          </a:prstGeom>
          <a:noFill/>
          <a:ln/>
        </p:spPr>
        <p:txBody>
          <a:bodyPr wrap="square" rtlCol="0" anchor="ctr"/>
          <a:lstStyle/>
          <a:p>
            <a:pPr indent="0" marL="0">
              <a:buNone/>
            </a:pPr>
            <a:r>
              <a:rPr lang="en-US" sz="1150" dirty="0">
                <a:solidFill>
                  <a:srgbClr val="7A6C5D"/>
                </a:solidFill>
                <a:latin typeface="NanumGothic" pitchFamily="34" charset="0"/>
                <a:ea typeface="NanumGothic" pitchFamily="34" charset="-122"/>
                <a:cs typeface="NanumGothic" pitchFamily="34" charset="-120"/>
              </a:rPr>
              <a:t>상품번호 및 URL 식별자 검증 결과 중복 레코드가 전혀 없는 완전성 확보</a:t>
            </a:r>
            <a:endParaRPr lang="en-US" sz="1150" dirty="0"/>
          </a:p>
        </p:txBody>
      </p:sp>
      <p:sp>
        <p:nvSpPr>
          <p:cNvPr id="28" name="Shape 24"/>
          <p:cNvSpPr/>
          <p:nvPr/>
        </p:nvSpPr>
        <p:spPr>
          <a:xfrm>
            <a:off x="5669280" y="3182112"/>
            <a:ext cx="228600" cy="228600"/>
          </a:xfrm>
          <a:prstGeom prst="ellipse">
            <a:avLst/>
          </a:prstGeom>
          <a:solidFill>
            <a:srgbClr val="B85042"/>
          </a:solidFill>
          <a:ln/>
        </p:spPr>
      </p:sp>
      <p:sp>
        <p:nvSpPr>
          <p:cNvPr id="29" name="Text 25"/>
          <p:cNvSpPr/>
          <p:nvPr/>
        </p:nvSpPr>
        <p:spPr>
          <a:xfrm>
            <a:off x="6035040" y="3108960"/>
            <a:ext cx="5120640" cy="274320"/>
          </a:xfrm>
          <a:prstGeom prst="rect">
            <a:avLst/>
          </a:prstGeom>
          <a:noFill/>
          <a:ln/>
        </p:spPr>
        <p:txBody>
          <a:bodyPr wrap="square" rtlCol="0" anchor="ctr"/>
          <a:lstStyle/>
          <a:p>
            <a:pPr indent="0" marL="0">
              <a:buNone/>
            </a:pPr>
            <a:r>
              <a:rPr lang="en-US" sz="1350" b="1" dirty="0">
                <a:solidFill>
                  <a:srgbClr val="3D3530"/>
                </a:solidFill>
                <a:latin typeface="Gmarket Sans Bold" pitchFamily="34" charset="0"/>
                <a:ea typeface="Gmarket Sans Bold" pitchFamily="34" charset="-122"/>
                <a:cs typeface="Gmarket Sans Bold" pitchFamily="34" charset="-120"/>
              </a:rPr>
              <a:t>2. 수치 데이터 정형화</a:t>
            </a:r>
            <a:endParaRPr lang="en-US" sz="1350" dirty="0"/>
          </a:p>
        </p:txBody>
      </p:sp>
      <p:sp>
        <p:nvSpPr>
          <p:cNvPr id="30" name="Text 26"/>
          <p:cNvSpPr/>
          <p:nvPr/>
        </p:nvSpPr>
        <p:spPr>
          <a:xfrm>
            <a:off x="6035040" y="3383280"/>
            <a:ext cx="5120640" cy="548640"/>
          </a:xfrm>
          <a:prstGeom prst="rect">
            <a:avLst/>
          </a:prstGeom>
          <a:noFill/>
          <a:ln/>
        </p:spPr>
        <p:txBody>
          <a:bodyPr wrap="square" rtlCol="0" anchor="ctr"/>
          <a:lstStyle/>
          <a:p>
            <a:pPr indent="0" marL="0">
              <a:buNone/>
            </a:pPr>
            <a:r>
              <a:rPr lang="en-US" sz="1150" dirty="0">
                <a:solidFill>
                  <a:srgbClr val="7A6C5D"/>
                </a:solidFill>
                <a:latin typeface="NanumGothic" pitchFamily="34" charset="0"/>
                <a:ea typeface="NanumGothic" pitchFamily="34" charset="-122"/>
                <a:cs typeface="NanumGothic" pitchFamily="34" charset="-120"/>
              </a:rPr>
              <a:t>원화 쉼표, '원', '%' 기호 제거 후 float64 정밀 변수로 가공</a:t>
            </a:r>
            <a:endParaRPr lang="en-US" sz="1150" dirty="0"/>
          </a:p>
        </p:txBody>
      </p:sp>
      <p:sp>
        <p:nvSpPr>
          <p:cNvPr id="31" name="Shape 27"/>
          <p:cNvSpPr/>
          <p:nvPr/>
        </p:nvSpPr>
        <p:spPr>
          <a:xfrm>
            <a:off x="5669280" y="4096512"/>
            <a:ext cx="228600" cy="228600"/>
          </a:xfrm>
          <a:prstGeom prst="ellipse">
            <a:avLst/>
          </a:prstGeom>
          <a:solidFill>
            <a:srgbClr val="B85042"/>
          </a:solidFill>
          <a:ln/>
        </p:spPr>
      </p:sp>
      <p:sp>
        <p:nvSpPr>
          <p:cNvPr id="32" name="Text 28"/>
          <p:cNvSpPr/>
          <p:nvPr/>
        </p:nvSpPr>
        <p:spPr>
          <a:xfrm>
            <a:off x="6035040" y="4023360"/>
            <a:ext cx="5120640" cy="274320"/>
          </a:xfrm>
          <a:prstGeom prst="rect">
            <a:avLst/>
          </a:prstGeom>
          <a:noFill/>
          <a:ln/>
        </p:spPr>
        <p:txBody>
          <a:bodyPr wrap="square" rtlCol="0" anchor="ctr"/>
          <a:lstStyle/>
          <a:p>
            <a:pPr indent="0" marL="0">
              <a:buNone/>
            </a:pPr>
            <a:r>
              <a:rPr lang="en-US" sz="1350" b="1" dirty="0">
                <a:solidFill>
                  <a:srgbClr val="3D3530"/>
                </a:solidFill>
                <a:latin typeface="Gmarket Sans Bold" pitchFamily="34" charset="0"/>
                <a:ea typeface="Gmarket Sans Bold" pitchFamily="34" charset="-122"/>
                <a:cs typeface="Gmarket Sans Bold" pitchFamily="34" charset="-120"/>
              </a:rPr>
              <a:t>3. 날짜 변수 표준화</a:t>
            </a:r>
            <a:endParaRPr lang="en-US" sz="1350" dirty="0"/>
          </a:p>
        </p:txBody>
      </p:sp>
      <p:sp>
        <p:nvSpPr>
          <p:cNvPr id="33" name="Text 29"/>
          <p:cNvSpPr/>
          <p:nvPr/>
        </p:nvSpPr>
        <p:spPr>
          <a:xfrm>
            <a:off x="6035040" y="4297680"/>
            <a:ext cx="5120640" cy="548640"/>
          </a:xfrm>
          <a:prstGeom prst="rect">
            <a:avLst/>
          </a:prstGeom>
          <a:noFill/>
          <a:ln/>
        </p:spPr>
        <p:txBody>
          <a:bodyPr wrap="square" rtlCol="0" anchor="ctr"/>
          <a:lstStyle/>
          <a:p>
            <a:pPr indent="0" marL="0">
              <a:buNone/>
            </a:pPr>
            <a:r>
              <a:rPr lang="en-US" sz="1150" dirty="0">
                <a:solidFill>
                  <a:srgbClr val="7A6C5D"/>
                </a:solidFill>
                <a:latin typeface="NanumGothic" pitchFamily="34" charset="0"/>
                <a:ea typeface="NanumGothic" pitchFamily="34" charset="-122"/>
                <a:cs typeface="NanumGothic" pitchFamily="34" charset="-120"/>
              </a:rPr>
              <a:t>'YYYY년 MM월' 출간일을 YYYY-MM 시계열 카테고리로 정규화</a:t>
            </a:r>
            <a:endParaRPr lang="en-US" sz="1150" dirty="0"/>
          </a:p>
        </p:txBody>
      </p:sp>
      <p:sp>
        <p:nvSpPr>
          <p:cNvPr id="34" name="Shape 30"/>
          <p:cNvSpPr/>
          <p:nvPr/>
        </p:nvSpPr>
        <p:spPr>
          <a:xfrm>
            <a:off x="5669280" y="5010912"/>
            <a:ext cx="228600" cy="228600"/>
          </a:xfrm>
          <a:prstGeom prst="ellipse">
            <a:avLst/>
          </a:prstGeom>
          <a:solidFill>
            <a:srgbClr val="B85042"/>
          </a:solidFill>
          <a:ln/>
        </p:spPr>
      </p:sp>
      <p:sp>
        <p:nvSpPr>
          <p:cNvPr id="35" name="Text 31"/>
          <p:cNvSpPr/>
          <p:nvPr/>
        </p:nvSpPr>
        <p:spPr>
          <a:xfrm>
            <a:off x="6035040" y="4937760"/>
            <a:ext cx="5120640" cy="274320"/>
          </a:xfrm>
          <a:prstGeom prst="rect">
            <a:avLst/>
          </a:prstGeom>
          <a:noFill/>
          <a:ln/>
        </p:spPr>
        <p:txBody>
          <a:bodyPr wrap="square" rtlCol="0" anchor="ctr"/>
          <a:lstStyle/>
          <a:p>
            <a:pPr indent="0" marL="0">
              <a:buNone/>
            </a:pPr>
            <a:r>
              <a:rPr lang="en-US" sz="1350" b="1" dirty="0">
                <a:solidFill>
                  <a:srgbClr val="3D3530"/>
                </a:solidFill>
                <a:latin typeface="Gmarket Sans Bold" pitchFamily="34" charset="0"/>
                <a:ea typeface="Gmarket Sans Bold" pitchFamily="34" charset="-122"/>
                <a:cs typeface="Gmarket Sans Bold" pitchFamily="34" charset="-120"/>
              </a:rPr>
              <a:t>4. 분석 신뢰성 확보</a:t>
            </a:r>
            <a:endParaRPr lang="en-US" sz="1350" dirty="0"/>
          </a:p>
        </p:txBody>
      </p:sp>
      <p:sp>
        <p:nvSpPr>
          <p:cNvPr id="36" name="Text 32"/>
          <p:cNvSpPr/>
          <p:nvPr/>
        </p:nvSpPr>
        <p:spPr>
          <a:xfrm>
            <a:off x="6035040" y="5212080"/>
            <a:ext cx="5120640" cy="548640"/>
          </a:xfrm>
          <a:prstGeom prst="rect">
            <a:avLst/>
          </a:prstGeom>
          <a:noFill/>
          <a:ln/>
        </p:spPr>
        <p:txBody>
          <a:bodyPr wrap="square" rtlCol="0" anchor="ctr"/>
          <a:lstStyle/>
          <a:p>
            <a:pPr indent="0" marL="0">
              <a:buNone/>
            </a:pPr>
            <a:r>
              <a:rPr lang="en-US" sz="1150" dirty="0">
                <a:solidFill>
                  <a:srgbClr val="7A6C5D"/>
                </a:solidFill>
                <a:latin typeface="NanumGothic" pitchFamily="34" charset="0"/>
                <a:ea typeface="NanumGothic" pitchFamily="34" charset="-122"/>
                <a:cs typeface="NanumGothic" pitchFamily="34" charset="-120"/>
              </a:rPr>
              <a:t>1,000건 표본은 국내 온라인 서점 유통 시장의 통계적 대표성을 충분히 상회함</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1.2 데이터 컬럼 구조 &amp; 결측치 메커니즘</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5120640" cy="4480560"/>
          </a:xfrm>
          <a:prstGeom prst="roundRect">
            <a:avLst>
              <a:gd name="adj" fmla="val 1633"/>
            </a:avLst>
          </a:prstGeom>
          <a:solidFill>
            <a:srgbClr val="FFFFFF"/>
          </a:solidFill>
          <a:ln w="12700">
            <a:solidFill>
              <a:srgbClr val="E2DACD"/>
            </a:solidFill>
            <a:prstDash val="solid"/>
          </a:ln>
        </p:spPr>
      </p:sp>
      <p:sp>
        <p:nvSpPr>
          <p:cNvPr id="10" name="Text 8"/>
          <p:cNvSpPr/>
          <p:nvPr/>
        </p:nvSpPr>
        <p:spPr>
          <a:xfrm>
            <a:off x="1005840" y="1737360"/>
            <a:ext cx="4572000" cy="36576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데이터 변수 분류 체계 (26개 변수)</a:t>
            </a:r>
            <a:endParaRPr lang="en-US" sz="1600" dirty="0"/>
          </a:p>
        </p:txBody>
      </p:sp>
      <p:sp>
        <p:nvSpPr>
          <p:cNvPr id="11" name="Text 9"/>
          <p:cNvSpPr/>
          <p:nvPr/>
        </p:nvSpPr>
        <p:spPr>
          <a:xfrm>
            <a:off x="1005840" y="2194560"/>
            <a:ext cx="4572000" cy="274320"/>
          </a:xfrm>
          <a:prstGeom prst="rect">
            <a:avLst/>
          </a:prstGeom>
          <a:noFill/>
          <a:ln/>
        </p:spPr>
        <p:txBody>
          <a:bodyPr wrap="square" rtlCol="0" anchor="ctr"/>
          <a:lstStyle/>
          <a:p>
            <a:pPr indent="0" marL="0">
              <a:buNone/>
            </a:pPr>
            <a:r>
              <a:rPr lang="en-US" sz="1300" b="1" dirty="0">
                <a:solidFill>
                  <a:srgbClr val="B85042"/>
                </a:solidFill>
                <a:latin typeface="Gmarket Sans Bold" pitchFamily="34" charset="0"/>
                <a:ea typeface="Gmarket Sans Bold" pitchFamily="34" charset="-122"/>
                <a:cs typeface="Gmarket Sans Bold" pitchFamily="34" charset="-120"/>
              </a:rPr>
              <a:t>원시 식별자 &amp; 기본정보 (8개)</a:t>
            </a:r>
            <a:endParaRPr lang="en-US" sz="1300" dirty="0"/>
          </a:p>
        </p:txBody>
      </p:sp>
      <p:sp>
        <p:nvSpPr>
          <p:cNvPr id="12" name="Text 10"/>
          <p:cNvSpPr/>
          <p:nvPr/>
        </p:nvSpPr>
        <p:spPr>
          <a:xfrm>
            <a:off x="1005840" y="2423160"/>
            <a:ext cx="4572000" cy="548640"/>
          </a:xfrm>
          <a:prstGeom prst="rect">
            <a:avLst/>
          </a:prstGeom>
          <a:noFill/>
          <a:ln/>
        </p:spPr>
        <p:txBody>
          <a:bodyPr wrap="square" rtlCol="0" anchor="ctr"/>
          <a:lstStyle/>
          <a:p>
            <a:pPr indent="0" marL="0">
              <a:buNone/>
            </a:pPr>
            <a:r>
              <a:rPr lang="en-US" sz="1100" dirty="0">
                <a:solidFill>
                  <a:srgbClr val="3D3530"/>
                </a:solidFill>
                <a:latin typeface="NanumGothic" pitchFamily="34" charset="0"/>
                <a:ea typeface="NanumGothic" pitchFamily="34" charset="-122"/>
                <a:cs typeface="NanumGothic" pitchFamily="34" charset="-120"/>
              </a:rPr>
              <a:t>페이지, 순위, 상품번호, 도서명, 부제목, 저자, 출판사, 출간일</a:t>
            </a:r>
            <a:endParaRPr lang="en-US" sz="1100" dirty="0"/>
          </a:p>
        </p:txBody>
      </p:sp>
      <p:sp>
        <p:nvSpPr>
          <p:cNvPr id="13" name="Text 11"/>
          <p:cNvSpPr/>
          <p:nvPr/>
        </p:nvSpPr>
        <p:spPr>
          <a:xfrm>
            <a:off x="1005840" y="3108960"/>
            <a:ext cx="4572000" cy="274320"/>
          </a:xfrm>
          <a:prstGeom prst="rect">
            <a:avLst/>
          </a:prstGeom>
          <a:noFill/>
          <a:ln/>
        </p:spPr>
        <p:txBody>
          <a:bodyPr wrap="square" rtlCol="0" anchor="ctr"/>
          <a:lstStyle/>
          <a:p>
            <a:pPr indent="0" marL="0">
              <a:buNone/>
            </a:pPr>
            <a:r>
              <a:rPr lang="en-US" sz="1300" b="1" dirty="0">
                <a:solidFill>
                  <a:srgbClr val="B85042"/>
                </a:solidFill>
                <a:latin typeface="Gmarket Sans Bold" pitchFamily="34" charset="0"/>
                <a:ea typeface="Gmarket Sans Bold" pitchFamily="34" charset="-122"/>
                <a:cs typeface="Gmarket Sans Bold" pitchFamily="34" charset="-120"/>
              </a:rPr>
              <a:t>가격 &amp; 유통 수치 변수 (7개)</a:t>
            </a:r>
            <a:endParaRPr lang="en-US" sz="1300" dirty="0"/>
          </a:p>
        </p:txBody>
      </p:sp>
      <p:sp>
        <p:nvSpPr>
          <p:cNvPr id="14" name="Text 12"/>
          <p:cNvSpPr/>
          <p:nvPr/>
        </p:nvSpPr>
        <p:spPr>
          <a:xfrm>
            <a:off x="1005840" y="3337560"/>
            <a:ext cx="4572000" cy="548640"/>
          </a:xfrm>
          <a:prstGeom prst="rect">
            <a:avLst/>
          </a:prstGeom>
          <a:noFill/>
          <a:ln/>
        </p:spPr>
        <p:txBody>
          <a:bodyPr wrap="square" rtlCol="0" anchor="ctr"/>
          <a:lstStyle/>
          <a:p>
            <a:pPr indent="0" marL="0">
              <a:buNone/>
            </a:pPr>
            <a:r>
              <a:rPr lang="en-US" sz="1100" dirty="0">
                <a:solidFill>
                  <a:srgbClr val="3D3530"/>
                </a:solidFill>
                <a:latin typeface="NanumGothic" pitchFamily="34" charset="0"/>
                <a:ea typeface="NanumGothic" pitchFamily="34" charset="-122"/>
                <a:cs typeface="NanumGothic" pitchFamily="34" charset="-120"/>
              </a:rPr>
              <a:t>할인율, 판매가, 정가, 판매가_num, 정가_num, 할인금액, 판매지수_num</a:t>
            </a:r>
            <a:endParaRPr lang="en-US" sz="1100" dirty="0"/>
          </a:p>
        </p:txBody>
      </p:sp>
      <p:sp>
        <p:nvSpPr>
          <p:cNvPr id="15" name="Text 13"/>
          <p:cNvSpPr/>
          <p:nvPr/>
        </p:nvSpPr>
        <p:spPr>
          <a:xfrm>
            <a:off x="1005840" y="4023360"/>
            <a:ext cx="4572000" cy="274320"/>
          </a:xfrm>
          <a:prstGeom prst="rect">
            <a:avLst/>
          </a:prstGeom>
          <a:noFill/>
          <a:ln/>
        </p:spPr>
        <p:txBody>
          <a:bodyPr wrap="square" rtlCol="0" anchor="ctr"/>
          <a:lstStyle/>
          <a:p>
            <a:pPr indent="0" marL="0">
              <a:buNone/>
            </a:pPr>
            <a:r>
              <a:rPr lang="en-US" sz="1300" b="1" dirty="0">
                <a:solidFill>
                  <a:srgbClr val="B85042"/>
                </a:solidFill>
                <a:latin typeface="Gmarket Sans Bold" pitchFamily="34" charset="0"/>
                <a:ea typeface="Gmarket Sans Bold" pitchFamily="34" charset="-122"/>
                <a:cs typeface="Gmarket Sans Bold" pitchFamily="34" charset="-120"/>
              </a:rPr>
              <a:t>독자 반응 &amp; 평가 변수 (4개)</a:t>
            </a:r>
            <a:endParaRPr lang="en-US" sz="1300" dirty="0"/>
          </a:p>
        </p:txBody>
      </p:sp>
      <p:sp>
        <p:nvSpPr>
          <p:cNvPr id="16" name="Text 14"/>
          <p:cNvSpPr/>
          <p:nvPr/>
        </p:nvSpPr>
        <p:spPr>
          <a:xfrm>
            <a:off x="1005840" y="4251960"/>
            <a:ext cx="4572000" cy="548640"/>
          </a:xfrm>
          <a:prstGeom prst="rect">
            <a:avLst/>
          </a:prstGeom>
          <a:noFill/>
          <a:ln/>
        </p:spPr>
        <p:txBody>
          <a:bodyPr wrap="square" rtlCol="0" anchor="ctr"/>
          <a:lstStyle/>
          <a:p>
            <a:pPr indent="0" marL="0">
              <a:buNone/>
            </a:pPr>
            <a:r>
              <a:rPr lang="en-US" sz="1100" dirty="0">
                <a:solidFill>
                  <a:srgbClr val="3D3530"/>
                </a:solidFill>
                <a:latin typeface="NanumGothic" pitchFamily="34" charset="0"/>
                <a:ea typeface="NanumGothic" pitchFamily="34" charset="-122"/>
                <a:cs typeface="NanumGothic" pitchFamily="34" charset="-120"/>
              </a:rPr>
              <a:t>평점, 리뷰수, 평점_num, 리뷰수_num</a:t>
            </a:r>
            <a:endParaRPr lang="en-US" sz="1100" dirty="0"/>
          </a:p>
        </p:txBody>
      </p:sp>
      <p:sp>
        <p:nvSpPr>
          <p:cNvPr id="17" name="Text 15"/>
          <p:cNvSpPr/>
          <p:nvPr/>
        </p:nvSpPr>
        <p:spPr>
          <a:xfrm>
            <a:off x="1005840" y="4937760"/>
            <a:ext cx="4572000" cy="274320"/>
          </a:xfrm>
          <a:prstGeom prst="rect">
            <a:avLst/>
          </a:prstGeom>
          <a:noFill/>
          <a:ln/>
        </p:spPr>
        <p:txBody>
          <a:bodyPr wrap="square" rtlCol="0" anchor="ctr"/>
          <a:lstStyle/>
          <a:p>
            <a:pPr indent="0" marL="0">
              <a:buNone/>
            </a:pPr>
            <a:r>
              <a:rPr lang="en-US" sz="1300" b="1" dirty="0">
                <a:solidFill>
                  <a:srgbClr val="B85042"/>
                </a:solidFill>
                <a:latin typeface="Gmarket Sans Bold" pitchFamily="34" charset="0"/>
                <a:ea typeface="Gmarket Sans Bold" pitchFamily="34" charset="-122"/>
                <a:cs typeface="Gmarket Sans Bold" pitchFamily="34" charset="-120"/>
              </a:rPr>
              <a:t>파생 시계열 &amp; 텍스트 (7개)</a:t>
            </a:r>
            <a:endParaRPr lang="en-US" sz="1300" dirty="0"/>
          </a:p>
        </p:txBody>
      </p:sp>
      <p:sp>
        <p:nvSpPr>
          <p:cNvPr id="18" name="Text 16"/>
          <p:cNvSpPr/>
          <p:nvPr/>
        </p:nvSpPr>
        <p:spPr>
          <a:xfrm>
            <a:off x="1005840" y="5166360"/>
            <a:ext cx="4572000" cy="548640"/>
          </a:xfrm>
          <a:prstGeom prst="rect">
            <a:avLst/>
          </a:prstGeom>
          <a:noFill/>
          <a:ln/>
        </p:spPr>
        <p:txBody>
          <a:bodyPr wrap="square" rtlCol="0" anchor="ctr"/>
          <a:lstStyle/>
          <a:p>
            <a:pPr indent="0" marL="0">
              <a:buNone/>
            </a:pPr>
            <a:r>
              <a:rPr lang="en-US" sz="1100" dirty="0">
                <a:solidFill>
                  <a:srgbClr val="3D3530"/>
                </a:solidFill>
                <a:latin typeface="NanumGothic" pitchFamily="34" charset="0"/>
                <a:ea typeface="NanumGothic" pitchFamily="34" charset="-122"/>
                <a:cs typeface="NanumGothic" pitchFamily="34" charset="-120"/>
              </a:rPr>
              <a:t>출간년도, 출간월, 출간연월, 대표저자, 상세링크, 이미지URL 등</a:t>
            </a:r>
            <a:endParaRPr lang="en-US" sz="1100" dirty="0"/>
          </a:p>
        </p:txBody>
      </p:sp>
      <p:sp>
        <p:nvSpPr>
          <p:cNvPr id="19" name="Shape 17"/>
          <p:cNvSpPr/>
          <p:nvPr/>
        </p:nvSpPr>
        <p:spPr>
          <a:xfrm>
            <a:off x="6126480" y="1463040"/>
            <a:ext cx="5333695" cy="4480560"/>
          </a:xfrm>
          <a:prstGeom prst="roundRect">
            <a:avLst>
              <a:gd name="adj" fmla="val 1633"/>
            </a:avLst>
          </a:prstGeom>
          <a:solidFill>
            <a:srgbClr val="FFFFFF"/>
          </a:solidFill>
          <a:ln w="12700">
            <a:solidFill>
              <a:srgbClr val="E2DACD"/>
            </a:solidFill>
            <a:prstDash val="solid"/>
          </a:ln>
        </p:spPr>
      </p:sp>
      <p:sp>
        <p:nvSpPr>
          <p:cNvPr id="20" name="Text 18"/>
          <p:cNvSpPr/>
          <p:nvPr/>
        </p:nvSpPr>
        <p:spPr>
          <a:xfrm>
            <a:off x="6400800" y="1737360"/>
            <a:ext cx="4754880" cy="36576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결측치(Null Value) 발생 원인 분석</a:t>
            </a:r>
            <a:endParaRPr lang="en-US" sz="1600" dirty="0"/>
          </a:p>
        </p:txBody>
      </p:sp>
      <p:sp>
        <p:nvSpPr>
          <p:cNvPr id="21" name="Shape 19"/>
          <p:cNvSpPr/>
          <p:nvPr/>
        </p:nvSpPr>
        <p:spPr>
          <a:xfrm>
            <a:off x="6400800" y="2194560"/>
            <a:ext cx="4785055" cy="1143000"/>
          </a:xfrm>
          <a:prstGeom prst="roundRect">
            <a:avLst>
              <a:gd name="adj" fmla="val 4000"/>
            </a:avLst>
          </a:prstGeom>
          <a:solidFill>
            <a:srgbClr val="FDF2F0"/>
          </a:solidFill>
          <a:ln w="10160">
            <a:solidFill>
              <a:srgbClr val="B85042"/>
            </a:solidFill>
            <a:prstDash val="solid"/>
          </a:ln>
        </p:spPr>
      </p:sp>
      <p:sp>
        <p:nvSpPr>
          <p:cNvPr id="22" name="Text 20"/>
          <p:cNvSpPr/>
          <p:nvPr/>
        </p:nvSpPr>
        <p:spPr>
          <a:xfrm>
            <a:off x="6583680" y="2331720"/>
            <a:ext cx="4389120" cy="274320"/>
          </a:xfrm>
          <a:prstGeom prst="rect">
            <a:avLst/>
          </a:prstGeom>
          <a:noFill/>
          <a:ln/>
        </p:spPr>
        <p:txBody>
          <a:bodyPr wrap="square" rtlCol="0" anchor="ctr"/>
          <a:lstStyle/>
          <a:p>
            <a:pPr indent="0" marL="0">
              <a:buNone/>
            </a:pPr>
            <a:r>
              <a:rPr lang="en-US" sz="1300" b="1" dirty="0">
                <a:solidFill>
                  <a:srgbClr val="963B2F"/>
                </a:solidFill>
                <a:latin typeface="Gmarket Sans Bold" pitchFamily="34" charset="0"/>
                <a:ea typeface="Gmarket Sans Bold" pitchFamily="34" charset="-122"/>
                <a:cs typeface="Gmarket Sans Bold" pitchFamily="34" charset="-120"/>
              </a:rPr>
              <a:t>부제목 (Subtitle) : 288건 (28.8%)</a:t>
            </a:r>
            <a:endParaRPr lang="en-US" sz="1300" dirty="0"/>
          </a:p>
        </p:txBody>
      </p:sp>
      <p:sp>
        <p:nvSpPr>
          <p:cNvPr id="23" name="Text 21"/>
          <p:cNvSpPr/>
          <p:nvPr/>
        </p:nvSpPr>
        <p:spPr>
          <a:xfrm>
            <a:off x="6583680" y="2606040"/>
            <a:ext cx="4389120" cy="640080"/>
          </a:xfrm>
          <a:prstGeom prst="rect">
            <a:avLst/>
          </a:prstGeom>
          <a:noFill/>
          <a:ln/>
        </p:spPr>
        <p:txBody>
          <a:bodyPr wrap="square" rtlCol="0" anchor="ctr"/>
          <a:lstStyle/>
          <a:p>
            <a:pPr indent="0" marL="0">
              <a:lnSpc>
                <a:spcPts val="1600"/>
              </a:lnSpc>
              <a:buNone/>
            </a:pPr>
            <a:r>
              <a:rPr lang="en-US" sz="1100" dirty="0">
                <a:solidFill>
                  <a:srgbClr val="7A6C5D"/>
                </a:solidFill>
                <a:latin typeface="NanumGothic" pitchFamily="34" charset="0"/>
                <a:ea typeface="NanumGothic" pitchFamily="34" charset="-122"/>
                <a:cs typeface="NanumGothic" pitchFamily="34" charset="-120"/>
              </a:rPr>
              <a:t>단권 도서의 부제목 미입력 기획으로 자연스럽게 발생하는 결측</a:t>
            </a:r>
            <a:endParaRPr lang="en-US" sz="1100" dirty="0"/>
          </a:p>
        </p:txBody>
      </p:sp>
      <p:sp>
        <p:nvSpPr>
          <p:cNvPr id="24" name="Shape 22"/>
          <p:cNvSpPr/>
          <p:nvPr/>
        </p:nvSpPr>
        <p:spPr>
          <a:xfrm>
            <a:off x="6400800" y="3474720"/>
            <a:ext cx="4785055" cy="1143000"/>
          </a:xfrm>
          <a:prstGeom prst="roundRect">
            <a:avLst>
              <a:gd name="adj" fmla="val 4000"/>
            </a:avLst>
          </a:prstGeom>
          <a:solidFill>
            <a:srgbClr val="FDF2F0"/>
          </a:solidFill>
          <a:ln w="10160">
            <a:solidFill>
              <a:srgbClr val="B85042"/>
            </a:solidFill>
            <a:prstDash val="solid"/>
          </a:ln>
        </p:spPr>
      </p:sp>
      <p:sp>
        <p:nvSpPr>
          <p:cNvPr id="25" name="Text 23"/>
          <p:cNvSpPr/>
          <p:nvPr/>
        </p:nvSpPr>
        <p:spPr>
          <a:xfrm>
            <a:off x="6583680" y="3611880"/>
            <a:ext cx="4389120" cy="274320"/>
          </a:xfrm>
          <a:prstGeom prst="rect">
            <a:avLst/>
          </a:prstGeom>
          <a:noFill/>
          <a:ln/>
        </p:spPr>
        <p:txBody>
          <a:bodyPr wrap="square" rtlCol="0" anchor="ctr"/>
          <a:lstStyle/>
          <a:p>
            <a:pPr indent="0" marL="0">
              <a:buNone/>
            </a:pPr>
            <a:r>
              <a:rPr lang="en-US" sz="1300" b="1" dirty="0">
                <a:solidFill>
                  <a:srgbClr val="963B2F"/>
                </a:solidFill>
                <a:latin typeface="Gmarket Sans Bold" pitchFamily="34" charset="0"/>
                <a:ea typeface="Gmarket Sans Bold" pitchFamily="34" charset="-122"/>
                <a:cs typeface="Gmarket Sans Bold" pitchFamily="34" charset="-120"/>
              </a:rPr>
              <a:t>할인율 (Discount Rate) : 111건 (11.1%)</a:t>
            </a:r>
            <a:endParaRPr lang="en-US" sz="1300" dirty="0"/>
          </a:p>
        </p:txBody>
      </p:sp>
      <p:sp>
        <p:nvSpPr>
          <p:cNvPr id="26" name="Text 24"/>
          <p:cNvSpPr/>
          <p:nvPr/>
        </p:nvSpPr>
        <p:spPr>
          <a:xfrm>
            <a:off x="6583680" y="3886200"/>
            <a:ext cx="4389120" cy="640080"/>
          </a:xfrm>
          <a:prstGeom prst="rect">
            <a:avLst/>
          </a:prstGeom>
          <a:noFill/>
          <a:ln/>
        </p:spPr>
        <p:txBody>
          <a:bodyPr wrap="square" rtlCol="0" anchor="ctr"/>
          <a:lstStyle/>
          <a:p>
            <a:pPr indent="0" marL="0">
              <a:lnSpc>
                <a:spcPts val="1600"/>
              </a:lnSpc>
              <a:buNone/>
            </a:pPr>
            <a:r>
              <a:rPr lang="en-US" sz="1100" dirty="0">
                <a:solidFill>
                  <a:srgbClr val="7A6C5D"/>
                </a:solidFill>
                <a:latin typeface="NanumGothic" pitchFamily="34" charset="0"/>
                <a:ea typeface="NanumGothic" pitchFamily="34" charset="-122"/>
                <a:cs typeface="NanumGothic" pitchFamily="34" charset="-120"/>
              </a:rPr>
              <a:t>정가 그대로 판매되는 0% 할인 도서이거나 무할인 정책 반영</a:t>
            </a:r>
            <a:endParaRPr lang="en-US" sz="1100" dirty="0"/>
          </a:p>
        </p:txBody>
      </p:sp>
      <p:sp>
        <p:nvSpPr>
          <p:cNvPr id="27" name="Shape 25"/>
          <p:cNvSpPr/>
          <p:nvPr/>
        </p:nvSpPr>
        <p:spPr>
          <a:xfrm>
            <a:off x="6400800" y="4754880"/>
            <a:ext cx="4785055" cy="1143000"/>
          </a:xfrm>
          <a:prstGeom prst="roundRect">
            <a:avLst>
              <a:gd name="adj" fmla="val 4000"/>
            </a:avLst>
          </a:prstGeom>
          <a:solidFill>
            <a:srgbClr val="FDF2F0"/>
          </a:solidFill>
          <a:ln w="10160">
            <a:solidFill>
              <a:srgbClr val="B85042"/>
            </a:solidFill>
            <a:prstDash val="solid"/>
          </a:ln>
        </p:spPr>
      </p:sp>
      <p:sp>
        <p:nvSpPr>
          <p:cNvPr id="28" name="Text 26"/>
          <p:cNvSpPr/>
          <p:nvPr/>
        </p:nvSpPr>
        <p:spPr>
          <a:xfrm>
            <a:off x="6583680" y="4892040"/>
            <a:ext cx="4389120" cy="274320"/>
          </a:xfrm>
          <a:prstGeom prst="rect">
            <a:avLst/>
          </a:prstGeom>
          <a:noFill/>
          <a:ln/>
        </p:spPr>
        <p:txBody>
          <a:bodyPr wrap="square" rtlCol="0" anchor="ctr"/>
          <a:lstStyle/>
          <a:p>
            <a:pPr indent="0" marL="0">
              <a:buNone/>
            </a:pPr>
            <a:r>
              <a:rPr lang="en-US" sz="1300" b="1" dirty="0">
                <a:solidFill>
                  <a:srgbClr val="963B2F"/>
                </a:solidFill>
                <a:latin typeface="Gmarket Sans Bold" pitchFamily="34" charset="0"/>
                <a:ea typeface="Gmarket Sans Bold" pitchFamily="34" charset="-122"/>
                <a:cs typeface="Gmarket Sans Bold" pitchFamily="34" charset="-120"/>
              </a:rPr>
              <a:t>평점 &amp; 리뷰수 (Rating/Review) : 199건 (19.9%)</a:t>
            </a:r>
            <a:endParaRPr lang="en-US" sz="1300" dirty="0"/>
          </a:p>
        </p:txBody>
      </p:sp>
      <p:sp>
        <p:nvSpPr>
          <p:cNvPr id="29" name="Text 27"/>
          <p:cNvSpPr/>
          <p:nvPr/>
        </p:nvSpPr>
        <p:spPr>
          <a:xfrm>
            <a:off x="6583680" y="5166360"/>
            <a:ext cx="4389120" cy="640080"/>
          </a:xfrm>
          <a:prstGeom prst="rect">
            <a:avLst/>
          </a:prstGeom>
          <a:noFill/>
          <a:ln/>
        </p:spPr>
        <p:txBody>
          <a:bodyPr wrap="square" rtlCol="0" anchor="ctr"/>
          <a:lstStyle/>
          <a:p>
            <a:pPr indent="0" marL="0">
              <a:lnSpc>
                <a:spcPts val="1600"/>
              </a:lnSpc>
              <a:buNone/>
            </a:pPr>
            <a:r>
              <a:rPr lang="en-US" sz="1100" dirty="0">
                <a:solidFill>
                  <a:srgbClr val="7A6C5D"/>
                </a:solidFill>
                <a:latin typeface="NanumGothic" pitchFamily="34" charset="0"/>
                <a:ea typeface="NanumGothic" pitchFamily="34" charset="-122"/>
                <a:cs typeface="NanumGothic" pitchFamily="34" charset="-120"/>
              </a:rPr>
              <a:t>출간 직후 아직 독자 평가가 누적되지 않은 초기 신간 베스트셀러</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1.3 베스트셀러 최상위 Top 5 vs 하위 Bottom 5 비교</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Text 7"/>
          <p:cNvSpPr/>
          <p:nvPr/>
        </p:nvSpPr>
        <p:spPr>
          <a:xfrm>
            <a:off x="731520" y="1371600"/>
            <a:ext cx="10728655" cy="32004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TOP 5 메가 베스트셀러 (순위 1위 ~ 5위)</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10728655" cy="914400"/>
        </p:xfrm>
        <a:graphic>
          <a:graphicData uri="http://schemas.openxmlformats.org/drawingml/2006/table">
            <a:tbl>
              <a:tblPr/>
              <a:tblGrid>
                <a:gridCol w="731520"/>
                <a:gridCol w="3474720"/>
                <a:gridCol w="1463040"/>
                <a:gridCol w="1463040"/>
                <a:gridCol w="1005840"/>
                <a:gridCol w="1005840"/>
                <a:gridCol w="1005840"/>
                <a:gridCol w="548640"/>
              </a:tblGrid>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순위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도서명</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저자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출판사</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정가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판매가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판매지수</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평점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바로바로 클로드 with 코워크, 스킬...</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차진우저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골든래빗</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28,000원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25,200원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45,369</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9.7</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뚝딱 바로 써먹는 AI 3대장 챗GPT...</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코리아교육그룹</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안경다리BOOKS</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22,000원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19,800원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24,654</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9.9</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혼자 공부하는 바이브 코딩 with...</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조태호저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한빛미디어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30,000원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27,000원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77,061</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9.9</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4위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클로드 에이전트 협업의 기술</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조쉬 (김승권)저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한빛미디어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30,000원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27,000원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5,376</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5위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클로드 코드 제대로 시작하기</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주홍철,황진성저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길벗</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32,000원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28,800원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3,960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bl>
          </a:graphicData>
        </a:graphic>
      </p:graphicFrame>
      <p:sp>
        <p:nvSpPr>
          <p:cNvPr id="11" name="Text 8"/>
          <p:cNvSpPr/>
          <p:nvPr/>
        </p:nvSpPr>
        <p:spPr>
          <a:xfrm>
            <a:off x="731520" y="3749040"/>
            <a:ext cx="10728655" cy="320040"/>
          </a:xfrm>
          <a:prstGeom prst="rect">
            <a:avLst/>
          </a:prstGeom>
          <a:noFill/>
          <a:ln/>
        </p:spPr>
        <p:txBody>
          <a:bodyPr wrap="square" rtlCol="0" anchor="ctr"/>
          <a:lstStyle/>
          <a:p>
            <a:pPr indent="0" marL="0">
              <a:buNone/>
            </a:pPr>
            <a:r>
              <a:rPr lang="en-US" sz="1400" b="1" dirty="0">
                <a:solidFill>
                  <a:srgbClr val="7A6C5D"/>
                </a:solidFill>
                <a:latin typeface="Gmarket Sans Bold" pitchFamily="34" charset="0"/>
                <a:ea typeface="Gmarket Sans Bold" pitchFamily="34" charset="-122"/>
                <a:cs typeface="Gmarket Sans Bold" pitchFamily="34" charset="-120"/>
              </a:rPr>
              <a:t>BOTTOM 5 턱걸이 베스트셀러 (순위 996위 ~ 1000위)</a:t>
            </a:r>
            <a:endParaRPr lang="en-US" sz="14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731520" y="4114800"/>
          <a:ext cx="10728655" cy="914400"/>
        </p:xfrm>
        <a:graphic>
          <a:graphicData uri="http://schemas.openxmlformats.org/drawingml/2006/table">
            <a:tbl>
              <a:tblPr/>
              <a:tblGrid>
                <a:gridCol w="731520"/>
                <a:gridCol w="3474720"/>
                <a:gridCol w="1463040"/>
                <a:gridCol w="1463040"/>
                <a:gridCol w="1005840"/>
                <a:gridCol w="1005840"/>
                <a:gridCol w="1005840"/>
                <a:gridCol w="548640"/>
              </a:tblGrid>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순위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도서명</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저자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출판사</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정가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판매가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판매지수</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평점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996위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Node.js 백엔드 개발자 되기</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박승규저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골든래빗</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38,000원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34,200원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708</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9.9</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997위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챗GPT를 활용한 40가지 파이썬...</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장문철저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앤써북</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17,700원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15,930원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354</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9.3</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998위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마인크래프트 놀라운 발명품 만들기</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Mojang Studio</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영진닷컴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16,000원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14,400원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246</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6.0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999위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SPOTFIRE 응용편 1</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김성기저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한나래아카데미</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19,000원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19,000원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120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1000위</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개념탑재 퓨전 360 디자인 모델링</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이예진저</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피앤피북</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22,000원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19,800원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450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7.5</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2.1 수치형 변수 종합 기술통계 (Descriptive Stats)</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371600"/>
            <a:ext cx="2560320" cy="1234440"/>
          </a:xfrm>
          <a:prstGeom prst="roundRect">
            <a:avLst>
              <a:gd name="adj" fmla="val 5926"/>
            </a:avLst>
          </a:prstGeom>
          <a:solidFill>
            <a:srgbClr val="FFFFFF"/>
          </a:solidFill>
          <a:ln w="12700">
            <a:solidFill>
              <a:srgbClr val="B85042"/>
            </a:solidFill>
            <a:prstDash val="solid"/>
          </a:ln>
        </p:spPr>
      </p:sp>
      <p:pic>
        <p:nvPicPr>
          <p:cNvPr id="10" name="Image 0" descr="preencoded.png">    </p:cNvPr>
          <p:cNvPicPr>
            <a:picLocks noChangeAspect="1"/>
          </p:cNvPicPr>
          <p:nvPr/>
        </p:nvPicPr>
        <p:blipFill>
          <a:blip r:embed="rId1"/>
          <a:stretch>
            <a:fillRect/>
          </a:stretch>
        </p:blipFill>
        <p:spPr>
          <a:xfrm>
            <a:off x="868680" y="1508760"/>
            <a:ext cx="320040" cy="320040"/>
          </a:xfrm>
          <a:prstGeom prst="rect">
            <a:avLst/>
          </a:prstGeom>
        </p:spPr>
      </p:pic>
      <p:sp>
        <p:nvSpPr>
          <p:cNvPr id="11" name="Text 8"/>
          <p:cNvSpPr/>
          <p:nvPr/>
        </p:nvSpPr>
        <p:spPr>
          <a:xfrm>
            <a:off x="1234440" y="1463040"/>
            <a:ext cx="1965960" cy="228600"/>
          </a:xfrm>
          <a:prstGeom prst="rect">
            <a:avLst/>
          </a:prstGeom>
          <a:noFill/>
          <a:ln/>
        </p:spPr>
        <p:txBody>
          <a:bodyPr wrap="square" rtlCol="0" anchor="ctr"/>
          <a:lstStyle/>
          <a:p>
            <a:pPr indent="0" marL="0">
              <a:buNone/>
            </a:pPr>
            <a:r>
              <a:rPr lang="en-US" sz="1050" dirty="0">
                <a:solidFill>
                  <a:srgbClr val="7A6C5D"/>
                </a:solidFill>
                <a:latin typeface="NanumGothic" pitchFamily="34" charset="0"/>
                <a:ea typeface="NanumGothic" pitchFamily="34" charset="-122"/>
                <a:cs typeface="NanumGothic" pitchFamily="34" charset="-120"/>
              </a:rPr>
              <a:t>정가 평균 (Mean Price)</a:t>
            </a:r>
            <a:endParaRPr lang="en-US" sz="1050" dirty="0"/>
          </a:p>
        </p:txBody>
      </p:sp>
      <p:sp>
        <p:nvSpPr>
          <p:cNvPr id="12" name="Text 9"/>
          <p:cNvSpPr/>
          <p:nvPr/>
        </p:nvSpPr>
        <p:spPr>
          <a:xfrm>
            <a:off x="822960" y="1783080"/>
            <a:ext cx="2377440" cy="411480"/>
          </a:xfrm>
          <a:prstGeom prst="rect">
            <a:avLst/>
          </a:prstGeom>
          <a:noFill/>
          <a:ln/>
        </p:spPr>
        <p:txBody>
          <a:bodyPr wrap="square" rtlCol="0" anchor="ctr"/>
          <a:lstStyle/>
          <a:p>
            <a:pPr algn="ctr" indent="0" marL="0">
              <a:buNone/>
            </a:pPr>
            <a:r>
              <a:rPr lang="en-US" sz="1700" b="1" dirty="0">
                <a:solidFill>
                  <a:srgbClr val="963B2F"/>
                </a:solidFill>
                <a:latin typeface="Gmarket Sans Bold" pitchFamily="34" charset="0"/>
                <a:ea typeface="Gmarket Sans Bold" pitchFamily="34" charset="-122"/>
                <a:cs typeface="Gmarket Sans Bold" pitchFamily="34" charset="-120"/>
              </a:rPr>
              <a:t>26,128원</a:t>
            </a:r>
            <a:endParaRPr lang="en-US" sz="1700" dirty="0"/>
          </a:p>
        </p:txBody>
      </p:sp>
      <p:sp>
        <p:nvSpPr>
          <p:cNvPr id="13" name="Text 10"/>
          <p:cNvSpPr/>
          <p:nvPr/>
        </p:nvSpPr>
        <p:spPr>
          <a:xfrm>
            <a:off x="822960" y="2194560"/>
            <a:ext cx="2377440" cy="320040"/>
          </a:xfrm>
          <a:prstGeom prst="rect">
            <a:avLst/>
          </a:prstGeom>
          <a:noFill/>
          <a:ln/>
        </p:spPr>
        <p:txBody>
          <a:bodyPr wrap="square" rtlCol="0" anchor="ctr"/>
          <a:lstStyle/>
          <a:p>
            <a:pPr algn="ctr" indent="0" marL="0">
              <a:buNone/>
            </a:pPr>
            <a:r>
              <a:rPr lang="en-US" sz="950" dirty="0">
                <a:solidFill>
                  <a:srgbClr val="3D3530"/>
                </a:solidFill>
                <a:latin typeface="NanumGothic" pitchFamily="34" charset="0"/>
                <a:ea typeface="NanumGothic" pitchFamily="34" charset="-122"/>
                <a:cs typeface="NanumGothic" pitchFamily="34" charset="-120"/>
              </a:rPr>
              <a:t>중앙값 25,000원</a:t>
            </a:r>
            <a:endParaRPr lang="en-US" sz="950" dirty="0"/>
          </a:p>
        </p:txBody>
      </p:sp>
      <p:sp>
        <p:nvSpPr>
          <p:cNvPr id="14" name="Shape 11"/>
          <p:cNvSpPr/>
          <p:nvPr/>
        </p:nvSpPr>
        <p:spPr>
          <a:xfrm>
            <a:off x="3429000" y="1371600"/>
            <a:ext cx="2560320" cy="1234440"/>
          </a:xfrm>
          <a:prstGeom prst="roundRect">
            <a:avLst>
              <a:gd name="adj" fmla="val 5926"/>
            </a:avLst>
          </a:prstGeom>
          <a:solidFill>
            <a:srgbClr val="FFFFFF"/>
          </a:solidFill>
          <a:ln w="12700">
            <a:solidFill>
              <a:srgbClr val="B85042"/>
            </a:solidFill>
            <a:prstDash val="solid"/>
          </a:ln>
        </p:spPr>
      </p:sp>
      <p:pic>
        <p:nvPicPr>
          <p:cNvPr id="15" name="Image 1" descr="preencoded.png">    </p:cNvPr>
          <p:cNvPicPr>
            <a:picLocks noChangeAspect="1"/>
          </p:cNvPicPr>
          <p:nvPr/>
        </p:nvPicPr>
        <p:blipFill>
          <a:blip r:embed="rId2"/>
          <a:stretch>
            <a:fillRect/>
          </a:stretch>
        </p:blipFill>
        <p:spPr>
          <a:xfrm>
            <a:off x="3566160" y="1508760"/>
            <a:ext cx="320040" cy="320040"/>
          </a:xfrm>
          <a:prstGeom prst="rect">
            <a:avLst/>
          </a:prstGeom>
        </p:spPr>
      </p:pic>
      <p:sp>
        <p:nvSpPr>
          <p:cNvPr id="16" name="Text 12"/>
          <p:cNvSpPr/>
          <p:nvPr/>
        </p:nvSpPr>
        <p:spPr>
          <a:xfrm>
            <a:off x="3931920" y="1463040"/>
            <a:ext cx="1965960" cy="228600"/>
          </a:xfrm>
          <a:prstGeom prst="rect">
            <a:avLst/>
          </a:prstGeom>
          <a:noFill/>
          <a:ln/>
        </p:spPr>
        <p:txBody>
          <a:bodyPr wrap="square" rtlCol="0" anchor="ctr"/>
          <a:lstStyle/>
          <a:p>
            <a:pPr indent="0" marL="0">
              <a:buNone/>
            </a:pPr>
            <a:r>
              <a:rPr lang="en-US" sz="1050" dirty="0">
                <a:solidFill>
                  <a:srgbClr val="7A6C5D"/>
                </a:solidFill>
                <a:latin typeface="NanumGothic" pitchFamily="34" charset="0"/>
                <a:ea typeface="NanumGothic" pitchFamily="34" charset="-122"/>
                <a:cs typeface="NanumGothic" pitchFamily="34" charset="-120"/>
              </a:rPr>
              <a:t>판매가 평균 (Sales Price)</a:t>
            </a:r>
            <a:endParaRPr lang="en-US" sz="1050" dirty="0"/>
          </a:p>
        </p:txBody>
      </p:sp>
      <p:sp>
        <p:nvSpPr>
          <p:cNvPr id="17" name="Text 13"/>
          <p:cNvSpPr/>
          <p:nvPr/>
        </p:nvSpPr>
        <p:spPr>
          <a:xfrm>
            <a:off x="3520440" y="1783080"/>
            <a:ext cx="2377440" cy="411480"/>
          </a:xfrm>
          <a:prstGeom prst="rect">
            <a:avLst/>
          </a:prstGeom>
          <a:noFill/>
          <a:ln/>
        </p:spPr>
        <p:txBody>
          <a:bodyPr wrap="square" rtlCol="0" anchor="ctr"/>
          <a:lstStyle/>
          <a:p>
            <a:pPr algn="ctr" indent="0" marL="0">
              <a:buNone/>
            </a:pPr>
            <a:r>
              <a:rPr lang="en-US" sz="1700" b="1" dirty="0">
                <a:solidFill>
                  <a:srgbClr val="963B2F"/>
                </a:solidFill>
                <a:latin typeface="Gmarket Sans Bold" pitchFamily="34" charset="0"/>
                <a:ea typeface="Gmarket Sans Bold" pitchFamily="34" charset="-122"/>
                <a:cs typeface="Gmarket Sans Bold" pitchFamily="34" charset="-120"/>
              </a:rPr>
              <a:t>23,845원</a:t>
            </a:r>
            <a:endParaRPr lang="en-US" sz="1700" dirty="0"/>
          </a:p>
        </p:txBody>
      </p:sp>
      <p:sp>
        <p:nvSpPr>
          <p:cNvPr id="18" name="Text 14"/>
          <p:cNvSpPr/>
          <p:nvPr/>
        </p:nvSpPr>
        <p:spPr>
          <a:xfrm>
            <a:off x="3520440" y="2194560"/>
            <a:ext cx="2377440" cy="320040"/>
          </a:xfrm>
          <a:prstGeom prst="rect">
            <a:avLst/>
          </a:prstGeom>
          <a:noFill/>
          <a:ln/>
        </p:spPr>
        <p:txBody>
          <a:bodyPr wrap="square" rtlCol="0" anchor="ctr"/>
          <a:lstStyle/>
          <a:p>
            <a:pPr algn="ctr" indent="0" marL="0">
              <a:buNone/>
            </a:pPr>
            <a:r>
              <a:rPr lang="en-US" sz="950" dirty="0">
                <a:solidFill>
                  <a:srgbClr val="3D3530"/>
                </a:solidFill>
                <a:latin typeface="NanumGothic" pitchFamily="34" charset="0"/>
                <a:ea typeface="NanumGothic" pitchFamily="34" charset="-122"/>
                <a:cs typeface="NanumGothic" pitchFamily="34" charset="-120"/>
              </a:rPr>
              <a:t>중앙값 22,500원</a:t>
            </a:r>
            <a:endParaRPr lang="en-US" sz="950" dirty="0"/>
          </a:p>
        </p:txBody>
      </p:sp>
      <p:sp>
        <p:nvSpPr>
          <p:cNvPr id="19" name="Shape 15"/>
          <p:cNvSpPr/>
          <p:nvPr/>
        </p:nvSpPr>
        <p:spPr>
          <a:xfrm>
            <a:off x="6126480" y="1371600"/>
            <a:ext cx="2560320" cy="1234440"/>
          </a:xfrm>
          <a:prstGeom prst="roundRect">
            <a:avLst>
              <a:gd name="adj" fmla="val 5926"/>
            </a:avLst>
          </a:prstGeom>
          <a:solidFill>
            <a:srgbClr val="FFFFFF"/>
          </a:solidFill>
          <a:ln w="12700">
            <a:solidFill>
              <a:srgbClr val="B85042"/>
            </a:solidFill>
            <a:prstDash val="solid"/>
          </a:ln>
        </p:spPr>
      </p:sp>
      <p:pic>
        <p:nvPicPr>
          <p:cNvPr id="20" name="Image 2" descr="preencoded.png">    </p:cNvPr>
          <p:cNvPicPr>
            <a:picLocks noChangeAspect="1"/>
          </p:cNvPicPr>
          <p:nvPr/>
        </p:nvPicPr>
        <p:blipFill>
          <a:blip r:embed="rId3"/>
          <a:stretch>
            <a:fillRect/>
          </a:stretch>
        </p:blipFill>
        <p:spPr>
          <a:xfrm>
            <a:off x="6263640" y="1508760"/>
            <a:ext cx="320040" cy="320040"/>
          </a:xfrm>
          <a:prstGeom prst="rect">
            <a:avLst/>
          </a:prstGeom>
        </p:spPr>
      </p:pic>
      <p:sp>
        <p:nvSpPr>
          <p:cNvPr id="21" name="Text 16"/>
          <p:cNvSpPr/>
          <p:nvPr/>
        </p:nvSpPr>
        <p:spPr>
          <a:xfrm>
            <a:off x="6629400" y="1463040"/>
            <a:ext cx="1965960" cy="228600"/>
          </a:xfrm>
          <a:prstGeom prst="rect">
            <a:avLst/>
          </a:prstGeom>
          <a:noFill/>
          <a:ln/>
        </p:spPr>
        <p:txBody>
          <a:bodyPr wrap="square" rtlCol="0" anchor="ctr"/>
          <a:lstStyle/>
          <a:p>
            <a:pPr indent="0" marL="0">
              <a:buNone/>
            </a:pPr>
            <a:r>
              <a:rPr lang="en-US" sz="1050" dirty="0">
                <a:solidFill>
                  <a:srgbClr val="7A6C5D"/>
                </a:solidFill>
                <a:latin typeface="NanumGothic" pitchFamily="34" charset="0"/>
                <a:ea typeface="NanumGothic" pitchFamily="34" charset="-122"/>
                <a:cs typeface="NanumGothic" pitchFamily="34" charset="-120"/>
              </a:rPr>
              <a:t>평균 할인율 (Discount)</a:t>
            </a:r>
            <a:endParaRPr lang="en-US" sz="1050" dirty="0"/>
          </a:p>
        </p:txBody>
      </p:sp>
      <p:sp>
        <p:nvSpPr>
          <p:cNvPr id="22" name="Text 17"/>
          <p:cNvSpPr/>
          <p:nvPr/>
        </p:nvSpPr>
        <p:spPr>
          <a:xfrm>
            <a:off x="6217920" y="1783080"/>
            <a:ext cx="2377440" cy="411480"/>
          </a:xfrm>
          <a:prstGeom prst="rect">
            <a:avLst/>
          </a:prstGeom>
          <a:noFill/>
          <a:ln/>
        </p:spPr>
        <p:txBody>
          <a:bodyPr wrap="square" rtlCol="0" anchor="ctr"/>
          <a:lstStyle/>
          <a:p>
            <a:pPr algn="ctr" indent="0" marL="0">
              <a:buNone/>
            </a:pPr>
            <a:r>
              <a:rPr lang="en-US" sz="1700" b="1" dirty="0">
                <a:solidFill>
                  <a:srgbClr val="963B2F"/>
                </a:solidFill>
                <a:latin typeface="Gmarket Sans Bold" pitchFamily="34" charset="0"/>
                <a:ea typeface="Gmarket Sans Bold" pitchFamily="34" charset="-122"/>
                <a:cs typeface="Gmarket Sans Bold" pitchFamily="34" charset="-120"/>
              </a:rPr>
              <a:t>9.86%</a:t>
            </a:r>
            <a:endParaRPr lang="en-US" sz="1700" dirty="0"/>
          </a:p>
        </p:txBody>
      </p:sp>
      <p:sp>
        <p:nvSpPr>
          <p:cNvPr id="23" name="Text 18"/>
          <p:cNvSpPr/>
          <p:nvPr/>
        </p:nvSpPr>
        <p:spPr>
          <a:xfrm>
            <a:off x="6217920" y="2194560"/>
            <a:ext cx="2377440" cy="320040"/>
          </a:xfrm>
          <a:prstGeom prst="rect">
            <a:avLst/>
          </a:prstGeom>
          <a:noFill/>
          <a:ln/>
        </p:spPr>
        <p:txBody>
          <a:bodyPr wrap="square" rtlCol="0" anchor="ctr"/>
          <a:lstStyle/>
          <a:p>
            <a:pPr algn="ctr" indent="0" marL="0">
              <a:buNone/>
            </a:pPr>
            <a:r>
              <a:rPr lang="en-US" sz="950" dirty="0">
                <a:solidFill>
                  <a:srgbClr val="3D3530"/>
                </a:solidFill>
                <a:latin typeface="NanumGothic" pitchFamily="34" charset="0"/>
                <a:ea typeface="NanumGothic" pitchFamily="34" charset="-122"/>
                <a:cs typeface="NanumGothic" pitchFamily="34" charset="-120"/>
              </a:rPr>
              <a:t>75% 사분위 10.0%</a:t>
            </a:r>
            <a:endParaRPr lang="en-US" sz="950" dirty="0"/>
          </a:p>
        </p:txBody>
      </p:sp>
      <p:sp>
        <p:nvSpPr>
          <p:cNvPr id="24" name="Shape 19"/>
          <p:cNvSpPr/>
          <p:nvPr/>
        </p:nvSpPr>
        <p:spPr>
          <a:xfrm>
            <a:off x="8823960" y="1371600"/>
            <a:ext cx="2560320" cy="1234440"/>
          </a:xfrm>
          <a:prstGeom prst="roundRect">
            <a:avLst>
              <a:gd name="adj" fmla="val 5926"/>
            </a:avLst>
          </a:prstGeom>
          <a:solidFill>
            <a:srgbClr val="FFFFFF"/>
          </a:solidFill>
          <a:ln w="12700">
            <a:solidFill>
              <a:srgbClr val="B85042"/>
            </a:solidFill>
            <a:prstDash val="solid"/>
          </a:ln>
        </p:spPr>
      </p:sp>
      <p:pic>
        <p:nvPicPr>
          <p:cNvPr id="25" name="Image 3" descr="preencoded.png">    </p:cNvPr>
          <p:cNvPicPr>
            <a:picLocks noChangeAspect="1"/>
          </p:cNvPicPr>
          <p:nvPr/>
        </p:nvPicPr>
        <p:blipFill>
          <a:blip r:embed="rId4"/>
          <a:stretch>
            <a:fillRect/>
          </a:stretch>
        </p:blipFill>
        <p:spPr>
          <a:xfrm>
            <a:off x="8961120" y="1508760"/>
            <a:ext cx="320040" cy="320040"/>
          </a:xfrm>
          <a:prstGeom prst="rect">
            <a:avLst/>
          </a:prstGeom>
        </p:spPr>
      </p:pic>
      <p:sp>
        <p:nvSpPr>
          <p:cNvPr id="26" name="Text 20"/>
          <p:cNvSpPr/>
          <p:nvPr/>
        </p:nvSpPr>
        <p:spPr>
          <a:xfrm>
            <a:off x="9326880" y="1463040"/>
            <a:ext cx="1965960" cy="228600"/>
          </a:xfrm>
          <a:prstGeom prst="rect">
            <a:avLst/>
          </a:prstGeom>
          <a:noFill/>
          <a:ln/>
        </p:spPr>
        <p:txBody>
          <a:bodyPr wrap="square" rtlCol="0" anchor="ctr"/>
          <a:lstStyle/>
          <a:p>
            <a:pPr indent="0" marL="0">
              <a:buNone/>
            </a:pPr>
            <a:r>
              <a:rPr lang="en-US" sz="1050" dirty="0">
                <a:solidFill>
                  <a:srgbClr val="7A6C5D"/>
                </a:solidFill>
                <a:latin typeface="NanumGothic" pitchFamily="34" charset="0"/>
                <a:ea typeface="NanumGothic" pitchFamily="34" charset="-122"/>
                <a:cs typeface="NanumGothic" pitchFamily="34" charset="-120"/>
              </a:rPr>
              <a:t>평균 판매지수 (Sales Index)</a:t>
            </a:r>
            <a:endParaRPr lang="en-US" sz="1050" dirty="0"/>
          </a:p>
        </p:txBody>
      </p:sp>
      <p:sp>
        <p:nvSpPr>
          <p:cNvPr id="27" name="Text 21"/>
          <p:cNvSpPr/>
          <p:nvPr/>
        </p:nvSpPr>
        <p:spPr>
          <a:xfrm>
            <a:off x="8915400" y="1783080"/>
            <a:ext cx="2377440" cy="411480"/>
          </a:xfrm>
          <a:prstGeom prst="rect">
            <a:avLst/>
          </a:prstGeom>
          <a:noFill/>
          <a:ln/>
        </p:spPr>
        <p:txBody>
          <a:bodyPr wrap="square" rtlCol="0" anchor="ctr"/>
          <a:lstStyle/>
          <a:p>
            <a:pPr algn="ctr" indent="0" marL="0">
              <a:buNone/>
            </a:pPr>
            <a:r>
              <a:rPr lang="en-US" sz="1700" b="1" dirty="0">
                <a:solidFill>
                  <a:srgbClr val="963B2F"/>
                </a:solidFill>
                <a:latin typeface="Gmarket Sans Bold" pitchFamily="34" charset="0"/>
                <a:ea typeface="Gmarket Sans Bold" pitchFamily="34" charset="-122"/>
                <a:cs typeface="Gmarket Sans Bold" pitchFamily="34" charset="-120"/>
              </a:rPr>
              <a:t>2,768 pt</a:t>
            </a:r>
            <a:endParaRPr lang="en-US" sz="1700" dirty="0"/>
          </a:p>
        </p:txBody>
      </p:sp>
      <p:sp>
        <p:nvSpPr>
          <p:cNvPr id="28" name="Text 22"/>
          <p:cNvSpPr/>
          <p:nvPr/>
        </p:nvSpPr>
        <p:spPr>
          <a:xfrm>
            <a:off x="8915400" y="2194560"/>
            <a:ext cx="2377440" cy="320040"/>
          </a:xfrm>
          <a:prstGeom prst="rect">
            <a:avLst/>
          </a:prstGeom>
          <a:noFill/>
          <a:ln/>
        </p:spPr>
        <p:txBody>
          <a:bodyPr wrap="square" rtlCol="0" anchor="ctr"/>
          <a:lstStyle/>
          <a:p>
            <a:pPr algn="ctr" indent="0" marL="0">
              <a:buNone/>
            </a:pPr>
            <a:r>
              <a:rPr lang="en-US" sz="950" dirty="0">
                <a:solidFill>
                  <a:srgbClr val="3D3530"/>
                </a:solidFill>
                <a:latin typeface="NanumGothic" pitchFamily="34" charset="0"/>
                <a:ea typeface="NanumGothic" pitchFamily="34" charset="-122"/>
                <a:cs typeface="NanumGothic" pitchFamily="34" charset="-120"/>
              </a:rPr>
              <a:t>최대 77,061 pt</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2880360"/>
          <a:ext cx="10728655" cy="914400"/>
        </p:xfrm>
        <a:graphic>
          <a:graphicData uri="http://schemas.openxmlformats.org/drawingml/2006/table">
            <a:tbl>
              <a:tblPr/>
              <a:tblGrid>
                <a:gridCol w="1218895"/>
                <a:gridCol w="1005840"/>
                <a:gridCol w="1280160"/>
                <a:gridCol w="1188720"/>
                <a:gridCol w="1097280"/>
                <a:gridCol w="1188720"/>
                <a:gridCol w="1188720"/>
                <a:gridCol w="1280160"/>
                <a:gridCol w="1280160"/>
              </a:tblGrid>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변수명</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데이터수</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평균 (Mean)</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표준편차 (Std)</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최소 (Min)</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25% (Q1)</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중앙값 (Q2)</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75% (Q3)</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최대 (Max)</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정가_num</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26,128원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9,550.5</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20,000원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25,000원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30,000원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127,100원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판매가_num</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23,845원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8,923.6</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18,000원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22,500원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28,000원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127,100원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할인율 (%)</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889</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9.86%</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0.84%</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3.0%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할인금액</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2,282원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1,156.2</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1,800원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2,300원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2,825원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8,000원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판매지수_num</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2,768.4</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6,878.7</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60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450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1,144.5</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2,446.5</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77,061</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평점_num</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801</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9.65점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0.70</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2.0점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9.6점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9.9점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10.0점</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r h="0">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리뷰수_num</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801</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26.94건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77.98</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6건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14건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28건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530"/>
                          </a:solidFill>
                          <a:latin typeface="NanumGothic" pitchFamily="34" charset="0"/>
                          <a:ea typeface="NanumGothic" pitchFamily="34" charset="-122"/>
                          <a:cs typeface="NanumGothic" pitchFamily="34" charset="-120"/>
                        </a:rPr>
                        <a:t>1,991건</a:t>
                      </a:r>
                      <a:endParaRPr lang="en-US" sz="1000" dirty="0">
                        <a:latin typeface="NanumGothic" charset="0"/>
                        <a:ea typeface="NanumGothic" charset="0"/>
                        <a:cs typeface="NanumGothic" charset="0"/>
                      </a:endParaRPr>
                    </a:p>
                  </a:txBody>
                  <a:tcPr marL="91440" marR="91440" marT="45720" marB="45720">
                    <a:lnL w="6350" cap="flat" cmpd="sng" algn="ctr">
                      <a:solidFill>
                        <a:srgbClr val="E2DACD"/>
                      </a:solidFill>
                      <a:prstDash val="solid"/>
                      <a:round/>
                      <a:headEnd type="none" w="med" len="med"/>
                      <a:tailEnd type="none" w="med" len="med"/>
                    </a:lnL>
                    <a:lnR w="6350" cap="flat" cmpd="sng" algn="ctr">
                      <a:solidFill>
                        <a:srgbClr val="E2DACD"/>
                      </a:solidFill>
                      <a:prstDash val="solid"/>
                      <a:round/>
                      <a:headEnd type="none" w="med" len="med"/>
                      <a:tailEnd type="none" w="med" len="med"/>
                    </a:lnR>
                    <a:lnT w="6350" cap="flat" cmpd="sng" algn="ctr">
                      <a:solidFill>
                        <a:srgbClr val="E2DACD"/>
                      </a:solidFill>
                      <a:prstDash val="solid"/>
                      <a:round/>
                      <a:headEnd type="none" w="med" len="med"/>
                      <a:tailEnd type="none" w="med" len="med"/>
                    </a:lnT>
                    <a:lnB w="6350" cap="flat" cmpd="sng" algn="ctr">
                      <a:solidFill>
                        <a:srgbClr val="E2DAC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2.2 범주형 변수 요약 &amp; 생태계 집중도</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3474720" cy="4480560"/>
          </a:xfrm>
          <a:prstGeom prst="roundRect">
            <a:avLst>
              <a:gd name="adj" fmla="val 2105"/>
            </a:avLst>
          </a:prstGeom>
          <a:solidFill>
            <a:srgbClr val="FFFFFF"/>
          </a:solidFill>
          <a:ln w="12700">
            <a:solidFill>
              <a:srgbClr val="E2DACD"/>
            </a:solidFill>
            <a:prstDash val="solid"/>
          </a:ln>
        </p:spPr>
      </p:sp>
      <p:pic>
        <p:nvPicPr>
          <p:cNvPr id="10" name="Image 0" descr="preencoded.png">    </p:cNvPr>
          <p:cNvPicPr>
            <a:picLocks noChangeAspect="1"/>
          </p:cNvPicPr>
          <p:nvPr/>
        </p:nvPicPr>
        <p:blipFill>
          <a:blip r:embed="rId1"/>
          <a:stretch>
            <a:fillRect/>
          </a:stretch>
        </p:blipFill>
        <p:spPr>
          <a:xfrm>
            <a:off x="1005840" y="1691640"/>
            <a:ext cx="457200" cy="457200"/>
          </a:xfrm>
          <a:prstGeom prst="rect">
            <a:avLst/>
          </a:prstGeom>
        </p:spPr>
      </p:pic>
      <p:sp>
        <p:nvSpPr>
          <p:cNvPr id="11" name="Text 8"/>
          <p:cNvSpPr/>
          <p:nvPr/>
        </p:nvSpPr>
        <p:spPr>
          <a:xfrm>
            <a:off x="1554480" y="1737360"/>
            <a:ext cx="246888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출판사 (Publisher)</a:t>
            </a:r>
            <a:endParaRPr lang="en-US" sz="1500" dirty="0"/>
          </a:p>
        </p:txBody>
      </p:sp>
      <p:sp>
        <p:nvSpPr>
          <p:cNvPr id="12" name="Shape 9"/>
          <p:cNvSpPr/>
          <p:nvPr/>
        </p:nvSpPr>
        <p:spPr>
          <a:xfrm>
            <a:off x="914400" y="2240280"/>
            <a:ext cx="3108960" cy="502920"/>
          </a:xfrm>
          <a:prstGeom prst="roundRect">
            <a:avLst>
              <a:gd name="adj" fmla="val 9091"/>
            </a:avLst>
          </a:prstGeom>
          <a:solidFill>
            <a:srgbClr val="FDF2F0"/>
          </a:solidFill>
          <a:ln w="10160">
            <a:solidFill>
              <a:srgbClr val="B85042"/>
            </a:solidFill>
            <a:prstDash val="solid"/>
          </a:ln>
        </p:spPr>
      </p:sp>
      <p:sp>
        <p:nvSpPr>
          <p:cNvPr id="13" name="Text 10"/>
          <p:cNvSpPr/>
          <p:nvPr/>
        </p:nvSpPr>
        <p:spPr>
          <a:xfrm>
            <a:off x="1005840" y="2286000"/>
            <a:ext cx="1371600" cy="411480"/>
          </a:xfrm>
          <a:prstGeom prst="rect">
            <a:avLst/>
          </a:prstGeom>
          <a:noFill/>
          <a:ln/>
        </p:spPr>
        <p:txBody>
          <a:bodyPr wrap="square" rtlCol="0" anchor="ctr"/>
          <a:lstStyle/>
          <a:p>
            <a:pPr indent="0" marL="0">
              <a:buNone/>
            </a:pPr>
            <a:r>
              <a:rPr lang="en-US" sz="1000" dirty="0">
                <a:solidFill>
                  <a:srgbClr val="7A6C5D"/>
                </a:solidFill>
                <a:latin typeface="NanumGothic" pitchFamily="34" charset="0"/>
                <a:ea typeface="NanumGothic" pitchFamily="34" charset="-122"/>
                <a:cs typeface="NanumGothic" pitchFamily="34" charset="-120"/>
              </a:rPr>
              <a:t>고유값(Unique)</a:t>
            </a:r>
            <a:endParaRPr lang="en-US" sz="1000" dirty="0"/>
          </a:p>
        </p:txBody>
      </p:sp>
      <p:sp>
        <p:nvSpPr>
          <p:cNvPr id="14" name="Text 11"/>
          <p:cNvSpPr/>
          <p:nvPr/>
        </p:nvSpPr>
        <p:spPr>
          <a:xfrm>
            <a:off x="2377440" y="2286000"/>
            <a:ext cx="1554480" cy="411480"/>
          </a:xfrm>
          <a:prstGeom prst="rect">
            <a:avLst/>
          </a:prstGeom>
          <a:noFill/>
          <a:ln/>
        </p:spPr>
        <p:txBody>
          <a:bodyPr wrap="square" rtlCol="0" anchor="ctr"/>
          <a:lstStyle/>
          <a:p>
            <a:pPr algn="r" indent="0" marL="0">
              <a:buNone/>
            </a:pPr>
            <a:r>
              <a:rPr lang="en-US" sz="1200" b="1" dirty="0">
                <a:solidFill>
                  <a:srgbClr val="963B2F"/>
                </a:solidFill>
                <a:latin typeface="Gmarket Sans Bold" pitchFamily="34" charset="0"/>
                <a:ea typeface="Gmarket Sans Bold" pitchFamily="34" charset="-122"/>
                <a:cs typeface="Gmarket Sans Bold" pitchFamily="34" charset="-120"/>
              </a:rPr>
              <a:t>190 개 고유사</a:t>
            </a:r>
            <a:endParaRPr lang="en-US" sz="1200" dirty="0"/>
          </a:p>
        </p:txBody>
      </p:sp>
      <p:sp>
        <p:nvSpPr>
          <p:cNvPr id="15" name="Text 12"/>
          <p:cNvSpPr/>
          <p:nvPr/>
        </p:nvSpPr>
        <p:spPr>
          <a:xfrm>
            <a:off x="914400" y="2926080"/>
            <a:ext cx="3108960" cy="228600"/>
          </a:xfrm>
          <a:prstGeom prst="rect">
            <a:avLst/>
          </a:prstGeom>
          <a:noFill/>
          <a:ln/>
        </p:spPr>
        <p:txBody>
          <a:bodyPr wrap="square" rtlCol="0" anchor="ctr"/>
          <a:lstStyle/>
          <a:p>
            <a:pPr indent="0" marL="0">
              <a:buNone/>
            </a:pPr>
            <a:r>
              <a:rPr lang="en-US" sz="1100" dirty="0">
                <a:solidFill>
                  <a:srgbClr val="7A6C5D"/>
                </a:solidFill>
                <a:latin typeface="NanumGothic" pitchFamily="34" charset="0"/>
                <a:ea typeface="NanumGothic" pitchFamily="34" charset="-122"/>
                <a:cs typeface="NanumGothic" pitchFamily="34" charset="-120"/>
              </a:rPr>
              <a:t>최빈값 (Top Mode)</a:t>
            </a:r>
            <a:endParaRPr lang="en-US" sz="1100" dirty="0"/>
          </a:p>
        </p:txBody>
      </p:sp>
      <p:sp>
        <p:nvSpPr>
          <p:cNvPr id="16" name="Text 13"/>
          <p:cNvSpPr/>
          <p:nvPr/>
        </p:nvSpPr>
        <p:spPr>
          <a:xfrm>
            <a:off x="914400" y="3154680"/>
            <a:ext cx="3108960" cy="36576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한빛미디어</a:t>
            </a:r>
            <a:endParaRPr lang="en-US" sz="1500" dirty="0"/>
          </a:p>
        </p:txBody>
      </p:sp>
      <p:sp>
        <p:nvSpPr>
          <p:cNvPr id="17" name="Text 14"/>
          <p:cNvSpPr/>
          <p:nvPr/>
        </p:nvSpPr>
        <p:spPr>
          <a:xfrm>
            <a:off x="914400" y="3520440"/>
            <a:ext cx="3108960" cy="274320"/>
          </a:xfrm>
          <a:prstGeom prst="rect">
            <a:avLst/>
          </a:prstGeom>
          <a:noFill/>
          <a:ln/>
        </p:spPr>
        <p:txBody>
          <a:bodyPr wrap="square" rtlCol="0" anchor="ctr"/>
          <a:lstStyle/>
          <a:p>
            <a:pPr indent="0" marL="0">
              <a:buNone/>
            </a:pPr>
            <a:r>
              <a:rPr lang="en-US" sz="1200" b="1" dirty="0">
                <a:solidFill>
                  <a:srgbClr val="B85042"/>
                </a:solidFill>
                <a:latin typeface="NanumGothic" pitchFamily="34" charset="0"/>
                <a:ea typeface="NanumGothic" pitchFamily="34" charset="-122"/>
                <a:cs typeface="NanumGothic" pitchFamily="34" charset="-120"/>
              </a:rPr>
              <a:t>빈도수: 149 권 (14.9%)</a:t>
            </a:r>
            <a:endParaRPr lang="en-US" sz="1200" dirty="0"/>
          </a:p>
        </p:txBody>
      </p:sp>
      <p:sp>
        <p:nvSpPr>
          <p:cNvPr id="18" name="Text 15"/>
          <p:cNvSpPr/>
          <p:nvPr/>
        </p:nvSpPr>
        <p:spPr>
          <a:xfrm>
            <a:off x="914400" y="3931920"/>
            <a:ext cx="3108960" cy="173736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상위 10개 대형 전문 출판사가 전체의 40% 이상을 과점 점유</a:t>
            </a:r>
            <a:endParaRPr lang="en-US" sz="1200" dirty="0"/>
          </a:p>
        </p:txBody>
      </p:sp>
      <p:sp>
        <p:nvSpPr>
          <p:cNvPr id="19" name="Shape 16"/>
          <p:cNvSpPr/>
          <p:nvPr/>
        </p:nvSpPr>
        <p:spPr>
          <a:xfrm>
            <a:off x="4343400" y="1463040"/>
            <a:ext cx="3474720" cy="4480560"/>
          </a:xfrm>
          <a:prstGeom prst="roundRect">
            <a:avLst>
              <a:gd name="adj" fmla="val 2105"/>
            </a:avLst>
          </a:prstGeom>
          <a:solidFill>
            <a:srgbClr val="FFFFFF"/>
          </a:solidFill>
          <a:ln w="12700">
            <a:solidFill>
              <a:srgbClr val="E2DACD"/>
            </a:solidFill>
            <a:prstDash val="solid"/>
          </a:ln>
        </p:spPr>
      </p:sp>
      <p:pic>
        <p:nvPicPr>
          <p:cNvPr id="20" name="Image 1" descr="preencoded.png">    </p:cNvPr>
          <p:cNvPicPr>
            <a:picLocks noChangeAspect="1"/>
          </p:cNvPicPr>
          <p:nvPr/>
        </p:nvPicPr>
        <p:blipFill>
          <a:blip r:embed="rId2"/>
          <a:stretch>
            <a:fillRect/>
          </a:stretch>
        </p:blipFill>
        <p:spPr>
          <a:xfrm>
            <a:off x="4617720" y="1691640"/>
            <a:ext cx="457200" cy="457200"/>
          </a:xfrm>
          <a:prstGeom prst="rect">
            <a:avLst/>
          </a:prstGeom>
        </p:spPr>
      </p:pic>
      <p:sp>
        <p:nvSpPr>
          <p:cNvPr id="21" name="Text 17"/>
          <p:cNvSpPr/>
          <p:nvPr/>
        </p:nvSpPr>
        <p:spPr>
          <a:xfrm>
            <a:off x="5166360" y="1737360"/>
            <a:ext cx="246888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대표저자 (Author)</a:t>
            </a:r>
            <a:endParaRPr lang="en-US" sz="1500" dirty="0"/>
          </a:p>
        </p:txBody>
      </p:sp>
      <p:sp>
        <p:nvSpPr>
          <p:cNvPr id="22" name="Shape 18"/>
          <p:cNvSpPr/>
          <p:nvPr/>
        </p:nvSpPr>
        <p:spPr>
          <a:xfrm>
            <a:off x="4526280" y="2240280"/>
            <a:ext cx="3108960" cy="502920"/>
          </a:xfrm>
          <a:prstGeom prst="roundRect">
            <a:avLst>
              <a:gd name="adj" fmla="val 9091"/>
            </a:avLst>
          </a:prstGeom>
          <a:solidFill>
            <a:srgbClr val="FDF2F0"/>
          </a:solidFill>
          <a:ln w="10160">
            <a:solidFill>
              <a:srgbClr val="B85042"/>
            </a:solidFill>
            <a:prstDash val="solid"/>
          </a:ln>
        </p:spPr>
      </p:sp>
      <p:sp>
        <p:nvSpPr>
          <p:cNvPr id="23" name="Text 19"/>
          <p:cNvSpPr/>
          <p:nvPr/>
        </p:nvSpPr>
        <p:spPr>
          <a:xfrm>
            <a:off x="4617720" y="2286000"/>
            <a:ext cx="1371600" cy="411480"/>
          </a:xfrm>
          <a:prstGeom prst="rect">
            <a:avLst/>
          </a:prstGeom>
          <a:noFill/>
          <a:ln/>
        </p:spPr>
        <p:txBody>
          <a:bodyPr wrap="square" rtlCol="0" anchor="ctr"/>
          <a:lstStyle/>
          <a:p>
            <a:pPr indent="0" marL="0">
              <a:buNone/>
            </a:pPr>
            <a:r>
              <a:rPr lang="en-US" sz="1000" dirty="0">
                <a:solidFill>
                  <a:srgbClr val="7A6C5D"/>
                </a:solidFill>
                <a:latin typeface="NanumGothic" pitchFamily="34" charset="0"/>
                <a:ea typeface="NanumGothic" pitchFamily="34" charset="-122"/>
                <a:cs typeface="NanumGothic" pitchFamily="34" charset="-120"/>
              </a:rPr>
              <a:t>고유값(Unique)</a:t>
            </a:r>
            <a:endParaRPr lang="en-US" sz="1000" dirty="0"/>
          </a:p>
        </p:txBody>
      </p:sp>
      <p:sp>
        <p:nvSpPr>
          <p:cNvPr id="24" name="Text 20"/>
          <p:cNvSpPr/>
          <p:nvPr/>
        </p:nvSpPr>
        <p:spPr>
          <a:xfrm>
            <a:off x="5989320" y="2286000"/>
            <a:ext cx="1554480" cy="411480"/>
          </a:xfrm>
          <a:prstGeom prst="rect">
            <a:avLst/>
          </a:prstGeom>
          <a:noFill/>
          <a:ln/>
        </p:spPr>
        <p:txBody>
          <a:bodyPr wrap="square" rtlCol="0" anchor="ctr"/>
          <a:lstStyle/>
          <a:p>
            <a:pPr algn="r" indent="0" marL="0">
              <a:buNone/>
            </a:pPr>
            <a:r>
              <a:rPr lang="en-US" sz="1200" b="1" dirty="0">
                <a:solidFill>
                  <a:srgbClr val="963B2F"/>
                </a:solidFill>
                <a:latin typeface="Gmarket Sans Bold" pitchFamily="34" charset="0"/>
                <a:ea typeface="Gmarket Sans Bold" pitchFamily="34" charset="-122"/>
                <a:cs typeface="Gmarket Sans Bold" pitchFamily="34" charset="-120"/>
              </a:rPr>
              <a:t>814 명 고유저자</a:t>
            </a:r>
            <a:endParaRPr lang="en-US" sz="1200" dirty="0"/>
          </a:p>
        </p:txBody>
      </p:sp>
      <p:sp>
        <p:nvSpPr>
          <p:cNvPr id="25" name="Text 21"/>
          <p:cNvSpPr/>
          <p:nvPr/>
        </p:nvSpPr>
        <p:spPr>
          <a:xfrm>
            <a:off x="4526280" y="2926080"/>
            <a:ext cx="3108960" cy="228600"/>
          </a:xfrm>
          <a:prstGeom prst="rect">
            <a:avLst/>
          </a:prstGeom>
          <a:noFill/>
          <a:ln/>
        </p:spPr>
        <p:txBody>
          <a:bodyPr wrap="square" rtlCol="0" anchor="ctr"/>
          <a:lstStyle/>
          <a:p>
            <a:pPr indent="0" marL="0">
              <a:buNone/>
            </a:pPr>
            <a:r>
              <a:rPr lang="en-US" sz="1100" dirty="0">
                <a:solidFill>
                  <a:srgbClr val="7A6C5D"/>
                </a:solidFill>
                <a:latin typeface="NanumGothic" pitchFamily="34" charset="0"/>
                <a:ea typeface="NanumGothic" pitchFamily="34" charset="-122"/>
                <a:cs typeface="NanumGothic" pitchFamily="34" charset="-120"/>
              </a:rPr>
              <a:t>최빈값 (Top Mode)</a:t>
            </a:r>
            <a:endParaRPr lang="en-US" sz="1100" dirty="0"/>
          </a:p>
        </p:txBody>
      </p:sp>
      <p:sp>
        <p:nvSpPr>
          <p:cNvPr id="26" name="Text 22"/>
          <p:cNvSpPr/>
          <p:nvPr/>
        </p:nvSpPr>
        <p:spPr>
          <a:xfrm>
            <a:off x="4526280" y="3154680"/>
            <a:ext cx="3108960" cy="36576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Mojang Studio</a:t>
            </a:r>
            <a:endParaRPr lang="en-US" sz="1500" dirty="0"/>
          </a:p>
        </p:txBody>
      </p:sp>
      <p:sp>
        <p:nvSpPr>
          <p:cNvPr id="27" name="Text 23"/>
          <p:cNvSpPr/>
          <p:nvPr/>
        </p:nvSpPr>
        <p:spPr>
          <a:xfrm>
            <a:off x="4526280" y="3520440"/>
            <a:ext cx="3108960" cy="274320"/>
          </a:xfrm>
          <a:prstGeom prst="rect">
            <a:avLst/>
          </a:prstGeom>
          <a:noFill/>
          <a:ln/>
        </p:spPr>
        <p:txBody>
          <a:bodyPr wrap="square" rtlCol="0" anchor="ctr"/>
          <a:lstStyle/>
          <a:p>
            <a:pPr indent="0" marL="0">
              <a:buNone/>
            </a:pPr>
            <a:r>
              <a:rPr lang="en-US" sz="1200" b="1" dirty="0">
                <a:solidFill>
                  <a:srgbClr val="B85042"/>
                </a:solidFill>
                <a:latin typeface="NanumGothic" pitchFamily="34" charset="0"/>
                <a:ea typeface="NanumGothic" pitchFamily="34" charset="-122"/>
                <a:cs typeface="NanumGothic" pitchFamily="34" charset="-120"/>
              </a:rPr>
              <a:t>빈도수: 16 권 (1.6%)</a:t>
            </a:r>
            <a:endParaRPr lang="en-US" sz="1200" dirty="0"/>
          </a:p>
        </p:txBody>
      </p:sp>
      <p:sp>
        <p:nvSpPr>
          <p:cNvPr id="28" name="Text 24"/>
          <p:cNvSpPr/>
          <p:nvPr/>
        </p:nvSpPr>
        <p:spPr>
          <a:xfrm>
            <a:off x="4526280" y="3931920"/>
            <a:ext cx="3108960" cy="173736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마인크래프트 및 IT 전문 저자군의 연쇄 흥행 팬덤 구축</a:t>
            </a:r>
            <a:endParaRPr lang="en-US" sz="1200" dirty="0"/>
          </a:p>
        </p:txBody>
      </p:sp>
      <p:sp>
        <p:nvSpPr>
          <p:cNvPr id="29" name="Shape 25"/>
          <p:cNvSpPr/>
          <p:nvPr/>
        </p:nvSpPr>
        <p:spPr>
          <a:xfrm>
            <a:off x="7955280" y="1463040"/>
            <a:ext cx="3474720" cy="4480560"/>
          </a:xfrm>
          <a:prstGeom prst="roundRect">
            <a:avLst>
              <a:gd name="adj" fmla="val 2105"/>
            </a:avLst>
          </a:prstGeom>
          <a:solidFill>
            <a:srgbClr val="FFFFFF"/>
          </a:solidFill>
          <a:ln w="12700">
            <a:solidFill>
              <a:srgbClr val="E2DACD"/>
            </a:solidFill>
            <a:prstDash val="solid"/>
          </a:ln>
        </p:spPr>
      </p:sp>
      <p:pic>
        <p:nvPicPr>
          <p:cNvPr id="30" name="Image 2" descr="preencoded.png">    </p:cNvPr>
          <p:cNvPicPr>
            <a:picLocks noChangeAspect="1"/>
          </p:cNvPicPr>
          <p:nvPr/>
        </p:nvPicPr>
        <p:blipFill>
          <a:blip r:embed="rId3"/>
          <a:stretch>
            <a:fillRect/>
          </a:stretch>
        </p:blipFill>
        <p:spPr>
          <a:xfrm>
            <a:off x="8229600" y="1691640"/>
            <a:ext cx="457200" cy="457200"/>
          </a:xfrm>
          <a:prstGeom prst="rect">
            <a:avLst/>
          </a:prstGeom>
        </p:spPr>
      </p:pic>
      <p:sp>
        <p:nvSpPr>
          <p:cNvPr id="31" name="Text 26"/>
          <p:cNvSpPr/>
          <p:nvPr/>
        </p:nvSpPr>
        <p:spPr>
          <a:xfrm>
            <a:off x="8778240" y="1737360"/>
            <a:ext cx="246888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출간연월 (Pub Date)</a:t>
            </a:r>
            <a:endParaRPr lang="en-US" sz="1500" dirty="0"/>
          </a:p>
        </p:txBody>
      </p:sp>
      <p:sp>
        <p:nvSpPr>
          <p:cNvPr id="32" name="Shape 27"/>
          <p:cNvSpPr/>
          <p:nvPr/>
        </p:nvSpPr>
        <p:spPr>
          <a:xfrm>
            <a:off x="8138160" y="2240280"/>
            <a:ext cx="3108960" cy="502920"/>
          </a:xfrm>
          <a:prstGeom prst="roundRect">
            <a:avLst>
              <a:gd name="adj" fmla="val 9091"/>
            </a:avLst>
          </a:prstGeom>
          <a:solidFill>
            <a:srgbClr val="FDF2F0"/>
          </a:solidFill>
          <a:ln w="10160">
            <a:solidFill>
              <a:srgbClr val="B85042"/>
            </a:solidFill>
            <a:prstDash val="solid"/>
          </a:ln>
        </p:spPr>
      </p:sp>
      <p:sp>
        <p:nvSpPr>
          <p:cNvPr id="33" name="Text 28"/>
          <p:cNvSpPr/>
          <p:nvPr/>
        </p:nvSpPr>
        <p:spPr>
          <a:xfrm>
            <a:off x="8229600" y="2286000"/>
            <a:ext cx="1371600" cy="411480"/>
          </a:xfrm>
          <a:prstGeom prst="rect">
            <a:avLst/>
          </a:prstGeom>
          <a:noFill/>
          <a:ln/>
        </p:spPr>
        <p:txBody>
          <a:bodyPr wrap="square" rtlCol="0" anchor="ctr"/>
          <a:lstStyle/>
          <a:p>
            <a:pPr indent="0" marL="0">
              <a:buNone/>
            </a:pPr>
            <a:r>
              <a:rPr lang="en-US" sz="1000" dirty="0">
                <a:solidFill>
                  <a:srgbClr val="7A6C5D"/>
                </a:solidFill>
                <a:latin typeface="NanumGothic" pitchFamily="34" charset="0"/>
                <a:ea typeface="NanumGothic" pitchFamily="34" charset="-122"/>
                <a:cs typeface="NanumGothic" pitchFamily="34" charset="-120"/>
              </a:rPr>
              <a:t>고유값(Unique)</a:t>
            </a:r>
            <a:endParaRPr lang="en-US" sz="1000" dirty="0"/>
          </a:p>
        </p:txBody>
      </p:sp>
      <p:sp>
        <p:nvSpPr>
          <p:cNvPr id="34" name="Text 29"/>
          <p:cNvSpPr/>
          <p:nvPr/>
        </p:nvSpPr>
        <p:spPr>
          <a:xfrm>
            <a:off x="9601200" y="2286000"/>
            <a:ext cx="1554480" cy="411480"/>
          </a:xfrm>
          <a:prstGeom prst="rect">
            <a:avLst/>
          </a:prstGeom>
          <a:noFill/>
          <a:ln/>
        </p:spPr>
        <p:txBody>
          <a:bodyPr wrap="square" rtlCol="0" anchor="ctr"/>
          <a:lstStyle/>
          <a:p>
            <a:pPr algn="r" indent="0" marL="0">
              <a:buNone/>
            </a:pPr>
            <a:r>
              <a:rPr lang="en-US" sz="1200" b="1" dirty="0">
                <a:solidFill>
                  <a:srgbClr val="963B2F"/>
                </a:solidFill>
                <a:latin typeface="Gmarket Sans Bold" pitchFamily="34" charset="0"/>
                <a:ea typeface="Gmarket Sans Bold" pitchFamily="34" charset="-122"/>
                <a:cs typeface="Gmarket Sans Bold" pitchFamily="34" charset="-120"/>
              </a:rPr>
              <a:t>92 개 월별구분</a:t>
            </a:r>
            <a:endParaRPr lang="en-US" sz="1200" dirty="0"/>
          </a:p>
        </p:txBody>
      </p:sp>
      <p:sp>
        <p:nvSpPr>
          <p:cNvPr id="35" name="Text 30"/>
          <p:cNvSpPr/>
          <p:nvPr/>
        </p:nvSpPr>
        <p:spPr>
          <a:xfrm>
            <a:off x="8138160" y="2926080"/>
            <a:ext cx="3108960" cy="228600"/>
          </a:xfrm>
          <a:prstGeom prst="rect">
            <a:avLst/>
          </a:prstGeom>
          <a:noFill/>
          <a:ln/>
        </p:spPr>
        <p:txBody>
          <a:bodyPr wrap="square" rtlCol="0" anchor="ctr"/>
          <a:lstStyle/>
          <a:p>
            <a:pPr indent="0" marL="0">
              <a:buNone/>
            </a:pPr>
            <a:r>
              <a:rPr lang="en-US" sz="1100" dirty="0">
                <a:solidFill>
                  <a:srgbClr val="7A6C5D"/>
                </a:solidFill>
                <a:latin typeface="NanumGothic" pitchFamily="34" charset="0"/>
                <a:ea typeface="NanumGothic" pitchFamily="34" charset="-122"/>
                <a:cs typeface="NanumGothic" pitchFamily="34" charset="-120"/>
              </a:rPr>
              <a:t>최빈값 (Top Mode)</a:t>
            </a:r>
            <a:endParaRPr lang="en-US" sz="1100" dirty="0"/>
          </a:p>
        </p:txBody>
      </p:sp>
      <p:sp>
        <p:nvSpPr>
          <p:cNvPr id="36" name="Text 31"/>
          <p:cNvSpPr/>
          <p:nvPr/>
        </p:nvSpPr>
        <p:spPr>
          <a:xfrm>
            <a:off x="8138160" y="3154680"/>
            <a:ext cx="3108960" cy="36576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2026년 07월</a:t>
            </a:r>
            <a:endParaRPr lang="en-US" sz="1500" dirty="0"/>
          </a:p>
        </p:txBody>
      </p:sp>
      <p:sp>
        <p:nvSpPr>
          <p:cNvPr id="37" name="Text 32"/>
          <p:cNvSpPr/>
          <p:nvPr/>
        </p:nvSpPr>
        <p:spPr>
          <a:xfrm>
            <a:off x="8138160" y="3520440"/>
            <a:ext cx="3108960" cy="274320"/>
          </a:xfrm>
          <a:prstGeom prst="rect">
            <a:avLst/>
          </a:prstGeom>
          <a:noFill/>
          <a:ln/>
        </p:spPr>
        <p:txBody>
          <a:bodyPr wrap="square" rtlCol="0" anchor="ctr"/>
          <a:lstStyle/>
          <a:p>
            <a:pPr indent="0" marL="0">
              <a:buNone/>
            </a:pPr>
            <a:r>
              <a:rPr lang="en-US" sz="1200" b="1" dirty="0">
                <a:solidFill>
                  <a:srgbClr val="B85042"/>
                </a:solidFill>
                <a:latin typeface="NanumGothic" pitchFamily="34" charset="0"/>
                <a:ea typeface="NanumGothic" pitchFamily="34" charset="-122"/>
                <a:cs typeface="NanumGothic" pitchFamily="34" charset="-120"/>
              </a:rPr>
              <a:t>빈도수: 87 권 (8.7%)</a:t>
            </a:r>
            <a:endParaRPr lang="en-US" sz="1200" dirty="0"/>
          </a:p>
        </p:txBody>
      </p:sp>
      <p:sp>
        <p:nvSpPr>
          <p:cNvPr id="38" name="Text 33"/>
          <p:cNvSpPr/>
          <p:nvPr/>
        </p:nvSpPr>
        <p:spPr>
          <a:xfrm>
            <a:off x="8138160" y="3931920"/>
            <a:ext cx="3108960" cy="173736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출간 직후 1~3개월 이내 신간 집중 효과가 베스트셀러 진입 결정</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2.3 심층 분석 ① : 도서 가격 구조 &amp; 10% 할인 메커니즘</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2560320" cy="2011680"/>
          </a:xfrm>
          <a:prstGeom prst="roundRect">
            <a:avLst>
              <a:gd name="adj" fmla="val 3636"/>
            </a:avLst>
          </a:prstGeom>
          <a:solidFill>
            <a:srgbClr val="FFFFFF"/>
          </a:solidFill>
          <a:ln w="19050">
            <a:solidFill>
              <a:srgbClr val="E2DACD"/>
            </a:solidFill>
            <a:prstDash val="solid"/>
          </a:ln>
        </p:spPr>
      </p:sp>
      <p:pic>
        <p:nvPicPr>
          <p:cNvPr id="10" name="Image 0" descr="preencoded.png">    </p:cNvPr>
          <p:cNvPicPr>
            <a:picLocks noChangeAspect="1"/>
          </p:cNvPicPr>
          <p:nvPr/>
        </p:nvPicPr>
        <p:blipFill>
          <a:blip r:embed="rId1"/>
          <a:stretch>
            <a:fillRect/>
          </a:stretch>
        </p:blipFill>
        <p:spPr>
          <a:xfrm>
            <a:off x="1828800" y="1600200"/>
            <a:ext cx="365760" cy="365760"/>
          </a:xfrm>
          <a:prstGeom prst="rect">
            <a:avLst/>
          </a:prstGeom>
        </p:spPr>
      </p:pic>
      <p:sp>
        <p:nvSpPr>
          <p:cNvPr id="11" name="Text 8"/>
          <p:cNvSpPr/>
          <p:nvPr/>
        </p:nvSpPr>
        <p:spPr>
          <a:xfrm>
            <a:off x="822960" y="2011680"/>
            <a:ext cx="2377440" cy="228600"/>
          </a:xfrm>
          <a:prstGeom prst="rect">
            <a:avLst/>
          </a:prstGeom>
          <a:noFill/>
          <a:ln/>
        </p:spPr>
        <p:txBody>
          <a:bodyPr wrap="square" rtlCol="0" anchor="ctr"/>
          <a:lstStyle/>
          <a:p>
            <a:pPr algn="ctr" indent="0" marL="0">
              <a:buNone/>
            </a:pPr>
            <a:r>
              <a:rPr lang="en-US" sz="1050" dirty="0">
                <a:solidFill>
                  <a:srgbClr val="7A6C5D"/>
                </a:solidFill>
                <a:latin typeface="NanumGothic" pitchFamily="34" charset="0"/>
                <a:ea typeface="NanumGothic" pitchFamily="34" charset="-122"/>
                <a:cs typeface="NanumGothic" pitchFamily="34" charset="-120"/>
              </a:rPr>
              <a:t>STEP 1. 정가 책정</a:t>
            </a:r>
            <a:endParaRPr lang="en-US" sz="1050" dirty="0"/>
          </a:p>
        </p:txBody>
      </p:sp>
      <p:sp>
        <p:nvSpPr>
          <p:cNvPr id="12" name="Text 9"/>
          <p:cNvSpPr/>
          <p:nvPr/>
        </p:nvSpPr>
        <p:spPr>
          <a:xfrm>
            <a:off x="822960" y="2240280"/>
            <a:ext cx="2377440" cy="365760"/>
          </a:xfrm>
          <a:prstGeom prst="rect">
            <a:avLst/>
          </a:prstGeom>
          <a:noFill/>
          <a:ln/>
        </p:spPr>
        <p:txBody>
          <a:bodyPr wrap="square" rtlCol="0" anchor="ctr"/>
          <a:lstStyle/>
          <a:p>
            <a:pPr algn="ctr" indent="0" marL="0">
              <a:buNone/>
            </a:pPr>
            <a:r>
              <a:rPr lang="en-US" sz="1700" b="1" dirty="0">
                <a:solidFill>
                  <a:srgbClr val="3D3530"/>
                </a:solidFill>
                <a:latin typeface="Gmarket Sans Bold" pitchFamily="34" charset="0"/>
                <a:ea typeface="Gmarket Sans Bold" pitchFamily="34" charset="-122"/>
                <a:cs typeface="Gmarket Sans Bold" pitchFamily="34" charset="-120"/>
              </a:rPr>
              <a:t>26,128원</a:t>
            </a:r>
            <a:endParaRPr lang="en-US" sz="1700" dirty="0"/>
          </a:p>
        </p:txBody>
      </p:sp>
      <p:sp>
        <p:nvSpPr>
          <p:cNvPr id="13" name="Text 10"/>
          <p:cNvSpPr/>
          <p:nvPr/>
        </p:nvSpPr>
        <p:spPr>
          <a:xfrm>
            <a:off x="822960" y="2651760"/>
            <a:ext cx="2377440" cy="640080"/>
          </a:xfrm>
          <a:prstGeom prst="rect">
            <a:avLst/>
          </a:prstGeom>
          <a:noFill/>
          <a:ln/>
        </p:spPr>
        <p:txBody>
          <a:bodyPr wrap="square" rtlCol="0" anchor="ctr"/>
          <a:lstStyle/>
          <a:p>
            <a:pPr algn="ctr" indent="0" marL="0">
              <a:lnSpc>
                <a:spcPts val="1500"/>
              </a:lnSpc>
              <a:buNone/>
            </a:pPr>
            <a:r>
              <a:rPr lang="en-US" sz="1100" dirty="0">
                <a:solidFill>
                  <a:srgbClr val="3D3530"/>
                </a:solidFill>
                <a:latin typeface="NanumGothic" pitchFamily="34" charset="0"/>
                <a:ea typeface="NanumGothic" pitchFamily="34" charset="-122"/>
                <a:cs typeface="NanumGothic" pitchFamily="34" charset="-120"/>
              </a:rPr>
              <a:t>중앙값 25,000원</a:t>
            </a:r>
            <a:endParaRPr lang="en-US" sz="1100" dirty="0"/>
          </a:p>
          <a:p>
            <a:pPr algn="ctr" indent="0" marL="0">
              <a:lnSpc>
                <a:spcPts val="1500"/>
              </a:lnSpc>
              <a:buNone/>
            </a:pPr>
            <a:r>
              <a:rPr lang="en-US" sz="1100" dirty="0">
                <a:solidFill>
                  <a:srgbClr val="3D3530"/>
                </a:solidFill>
                <a:latin typeface="NanumGothic" pitchFamily="34" charset="0"/>
                <a:ea typeface="NanumGothic" pitchFamily="34" charset="-122"/>
                <a:cs typeface="NanumGothic" pitchFamily="34" charset="-120"/>
              </a:rPr>
              <a:t>사분위 2만~3만원</a:t>
            </a:r>
            <a:endParaRPr lang="en-US" sz="1100" dirty="0"/>
          </a:p>
        </p:txBody>
      </p:sp>
      <p:sp>
        <p:nvSpPr>
          <p:cNvPr id="14" name="Shape 11"/>
          <p:cNvSpPr/>
          <p:nvPr/>
        </p:nvSpPr>
        <p:spPr>
          <a:xfrm>
            <a:off x="3429000" y="1463040"/>
            <a:ext cx="2560320" cy="2011680"/>
          </a:xfrm>
          <a:prstGeom prst="roundRect">
            <a:avLst>
              <a:gd name="adj" fmla="val 3636"/>
            </a:avLst>
          </a:prstGeom>
          <a:solidFill>
            <a:srgbClr val="FDF2F0"/>
          </a:solidFill>
          <a:ln w="19050">
            <a:solidFill>
              <a:srgbClr val="B85042"/>
            </a:solidFill>
            <a:prstDash val="solid"/>
          </a:ln>
        </p:spPr>
      </p:sp>
      <p:pic>
        <p:nvPicPr>
          <p:cNvPr id="15" name="Image 1" descr="preencoded.png">    </p:cNvPr>
          <p:cNvPicPr>
            <a:picLocks noChangeAspect="1"/>
          </p:cNvPicPr>
          <p:nvPr/>
        </p:nvPicPr>
        <p:blipFill>
          <a:blip r:embed="rId2"/>
          <a:stretch>
            <a:fillRect/>
          </a:stretch>
        </p:blipFill>
        <p:spPr>
          <a:xfrm>
            <a:off x="4526280" y="1600200"/>
            <a:ext cx="365760" cy="365760"/>
          </a:xfrm>
          <a:prstGeom prst="rect">
            <a:avLst/>
          </a:prstGeom>
        </p:spPr>
      </p:pic>
      <p:sp>
        <p:nvSpPr>
          <p:cNvPr id="16" name="Text 12"/>
          <p:cNvSpPr/>
          <p:nvPr/>
        </p:nvSpPr>
        <p:spPr>
          <a:xfrm>
            <a:off x="3520440" y="2011680"/>
            <a:ext cx="2377440" cy="228600"/>
          </a:xfrm>
          <a:prstGeom prst="rect">
            <a:avLst/>
          </a:prstGeom>
          <a:noFill/>
          <a:ln/>
        </p:spPr>
        <p:txBody>
          <a:bodyPr wrap="square" rtlCol="0" anchor="ctr"/>
          <a:lstStyle/>
          <a:p>
            <a:pPr algn="ctr" indent="0" marL="0">
              <a:buNone/>
            </a:pPr>
            <a:r>
              <a:rPr lang="en-US" sz="1050" dirty="0">
                <a:solidFill>
                  <a:srgbClr val="7A6C5D"/>
                </a:solidFill>
                <a:latin typeface="NanumGothic" pitchFamily="34" charset="0"/>
                <a:ea typeface="NanumGothic" pitchFamily="34" charset="-122"/>
                <a:cs typeface="NanumGothic" pitchFamily="34" charset="-120"/>
              </a:rPr>
              <a:t>STEP 2. 도서정가제</a:t>
            </a:r>
            <a:endParaRPr lang="en-US" sz="1050" dirty="0"/>
          </a:p>
        </p:txBody>
      </p:sp>
      <p:sp>
        <p:nvSpPr>
          <p:cNvPr id="17" name="Text 13"/>
          <p:cNvSpPr/>
          <p:nvPr/>
        </p:nvSpPr>
        <p:spPr>
          <a:xfrm>
            <a:off x="3520440" y="2240280"/>
            <a:ext cx="2377440" cy="365760"/>
          </a:xfrm>
          <a:prstGeom prst="rect">
            <a:avLst/>
          </a:prstGeom>
          <a:noFill/>
          <a:ln/>
        </p:spPr>
        <p:txBody>
          <a:bodyPr wrap="square" rtlCol="0" anchor="ctr"/>
          <a:lstStyle/>
          <a:p>
            <a:pPr algn="ctr" indent="0" marL="0">
              <a:buNone/>
            </a:pPr>
            <a:r>
              <a:rPr lang="en-US" sz="1700" b="1" dirty="0">
                <a:solidFill>
                  <a:srgbClr val="963B2F"/>
                </a:solidFill>
                <a:latin typeface="Gmarket Sans Bold" pitchFamily="34" charset="0"/>
                <a:ea typeface="Gmarket Sans Bold" pitchFamily="34" charset="-122"/>
                <a:cs typeface="Gmarket Sans Bold" pitchFamily="34" charset="-120"/>
              </a:rPr>
              <a:t>- 10.0% 정률</a:t>
            </a:r>
            <a:endParaRPr lang="en-US" sz="1700" dirty="0"/>
          </a:p>
        </p:txBody>
      </p:sp>
      <p:sp>
        <p:nvSpPr>
          <p:cNvPr id="18" name="Text 14"/>
          <p:cNvSpPr/>
          <p:nvPr/>
        </p:nvSpPr>
        <p:spPr>
          <a:xfrm>
            <a:off x="3520440" y="2651760"/>
            <a:ext cx="2377440" cy="640080"/>
          </a:xfrm>
          <a:prstGeom prst="rect">
            <a:avLst/>
          </a:prstGeom>
          <a:noFill/>
          <a:ln/>
        </p:spPr>
        <p:txBody>
          <a:bodyPr wrap="square" rtlCol="0" anchor="ctr"/>
          <a:lstStyle/>
          <a:p>
            <a:pPr algn="ctr" indent="0" marL="0">
              <a:lnSpc>
                <a:spcPts val="1500"/>
              </a:lnSpc>
              <a:buNone/>
            </a:pPr>
            <a:r>
              <a:rPr lang="en-US" sz="1100" dirty="0">
                <a:solidFill>
                  <a:srgbClr val="3D3530"/>
                </a:solidFill>
                <a:latin typeface="NanumGothic" pitchFamily="34" charset="0"/>
                <a:ea typeface="NanumGothic" pitchFamily="34" charset="-122"/>
                <a:cs typeface="NanumGothic" pitchFamily="34" charset="-120"/>
              </a:rPr>
              <a:t>법적 최대 할인 한도</a:t>
            </a:r>
            <a:endParaRPr lang="en-US" sz="1100" dirty="0"/>
          </a:p>
          <a:p>
            <a:pPr algn="ctr" indent="0" marL="0">
              <a:lnSpc>
                <a:spcPts val="1500"/>
              </a:lnSpc>
              <a:buNone/>
            </a:pPr>
            <a:r>
              <a:rPr lang="en-US" sz="1100" dirty="0">
                <a:solidFill>
                  <a:srgbClr val="3D3530"/>
                </a:solidFill>
                <a:latin typeface="NanumGothic" pitchFamily="34" charset="0"/>
                <a:ea typeface="NanumGothic" pitchFamily="34" charset="-122"/>
                <a:cs typeface="NanumGothic" pitchFamily="34" charset="-120"/>
              </a:rPr>
              <a:t>88.9% 도서 일괄 적용</a:t>
            </a:r>
            <a:endParaRPr lang="en-US" sz="1100" dirty="0"/>
          </a:p>
        </p:txBody>
      </p:sp>
      <p:sp>
        <p:nvSpPr>
          <p:cNvPr id="19" name="Shape 15"/>
          <p:cNvSpPr/>
          <p:nvPr/>
        </p:nvSpPr>
        <p:spPr>
          <a:xfrm>
            <a:off x="6126480" y="1463040"/>
            <a:ext cx="2560320" cy="2011680"/>
          </a:xfrm>
          <a:prstGeom prst="roundRect">
            <a:avLst>
              <a:gd name="adj" fmla="val 3636"/>
            </a:avLst>
          </a:prstGeom>
          <a:solidFill>
            <a:srgbClr val="FFFFFF"/>
          </a:solidFill>
          <a:ln w="19050">
            <a:solidFill>
              <a:srgbClr val="E2DACD"/>
            </a:solidFill>
            <a:prstDash val="solid"/>
          </a:ln>
        </p:spPr>
      </p:sp>
      <p:pic>
        <p:nvPicPr>
          <p:cNvPr id="20" name="Image 2" descr="preencoded.png">    </p:cNvPr>
          <p:cNvPicPr>
            <a:picLocks noChangeAspect="1"/>
          </p:cNvPicPr>
          <p:nvPr/>
        </p:nvPicPr>
        <p:blipFill>
          <a:blip r:embed="rId3"/>
          <a:stretch>
            <a:fillRect/>
          </a:stretch>
        </p:blipFill>
        <p:spPr>
          <a:xfrm>
            <a:off x="7223760" y="1600200"/>
            <a:ext cx="365760" cy="365760"/>
          </a:xfrm>
          <a:prstGeom prst="rect">
            <a:avLst/>
          </a:prstGeom>
        </p:spPr>
      </p:pic>
      <p:sp>
        <p:nvSpPr>
          <p:cNvPr id="21" name="Text 16"/>
          <p:cNvSpPr/>
          <p:nvPr/>
        </p:nvSpPr>
        <p:spPr>
          <a:xfrm>
            <a:off x="6217920" y="2011680"/>
            <a:ext cx="2377440" cy="228600"/>
          </a:xfrm>
          <a:prstGeom prst="rect">
            <a:avLst/>
          </a:prstGeom>
          <a:noFill/>
          <a:ln/>
        </p:spPr>
        <p:txBody>
          <a:bodyPr wrap="square" rtlCol="0" anchor="ctr"/>
          <a:lstStyle/>
          <a:p>
            <a:pPr algn="ctr" indent="0" marL="0">
              <a:buNone/>
            </a:pPr>
            <a:r>
              <a:rPr lang="en-US" sz="1050" dirty="0">
                <a:solidFill>
                  <a:srgbClr val="7A6C5D"/>
                </a:solidFill>
                <a:latin typeface="NanumGothic" pitchFamily="34" charset="0"/>
                <a:ea typeface="NanumGothic" pitchFamily="34" charset="-122"/>
                <a:cs typeface="NanumGothic" pitchFamily="34" charset="-120"/>
              </a:rPr>
              <a:t>STEP 3. 평균 할인액</a:t>
            </a:r>
            <a:endParaRPr lang="en-US" sz="1050" dirty="0"/>
          </a:p>
        </p:txBody>
      </p:sp>
      <p:sp>
        <p:nvSpPr>
          <p:cNvPr id="22" name="Text 17"/>
          <p:cNvSpPr/>
          <p:nvPr/>
        </p:nvSpPr>
        <p:spPr>
          <a:xfrm>
            <a:off x="6217920" y="2240280"/>
            <a:ext cx="2377440" cy="365760"/>
          </a:xfrm>
          <a:prstGeom prst="rect">
            <a:avLst/>
          </a:prstGeom>
          <a:noFill/>
          <a:ln/>
        </p:spPr>
        <p:txBody>
          <a:bodyPr wrap="square" rtlCol="0" anchor="ctr"/>
          <a:lstStyle/>
          <a:p>
            <a:pPr algn="ctr" indent="0" marL="0">
              <a:buNone/>
            </a:pPr>
            <a:r>
              <a:rPr lang="en-US" sz="1700" b="1" dirty="0">
                <a:solidFill>
                  <a:srgbClr val="3D3530"/>
                </a:solidFill>
                <a:latin typeface="Gmarket Sans Bold" pitchFamily="34" charset="0"/>
                <a:ea typeface="Gmarket Sans Bold" pitchFamily="34" charset="-122"/>
                <a:cs typeface="Gmarket Sans Bold" pitchFamily="34" charset="-120"/>
              </a:rPr>
              <a:t>- 2,283원</a:t>
            </a:r>
            <a:endParaRPr lang="en-US" sz="1700" dirty="0"/>
          </a:p>
        </p:txBody>
      </p:sp>
      <p:sp>
        <p:nvSpPr>
          <p:cNvPr id="23" name="Text 18"/>
          <p:cNvSpPr/>
          <p:nvPr/>
        </p:nvSpPr>
        <p:spPr>
          <a:xfrm>
            <a:off x="6217920" y="2651760"/>
            <a:ext cx="2377440" cy="640080"/>
          </a:xfrm>
          <a:prstGeom prst="rect">
            <a:avLst/>
          </a:prstGeom>
          <a:noFill/>
          <a:ln/>
        </p:spPr>
        <p:txBody>
          <a:bodyPr wrap="square" rtlCol="0" anchor="ctr"/>
          <a:lstStyle/>
          <a:p>
            <a:pPr algn="ctr" indent="0" marL="0">
              <a:lnSpc>
                <a:spcPts val="1500"/>
              </a:lnSpc>
              <a:buNone/>
            </a:pPr>
            <a:r>
              <a:rPr lang="en-US" sz="1100" dirty="0">
                <a:solidFill>
                  <a:srgbClr val="3D3530"/>
                </a:solidFill>
                <a:latin typeface="NanumGothic" pitchFamily="34" charset="0"/>
                <a:ea typeface="NanumGothic" pitchFamily="34" charset="-122"/>
                <a:cs typeface="NanumGothic" pitchFamily="34" charset="-120"/>
              </a:rPr>
              <a:t>체감 할인 혜택액</a:t>
            </a:r>
            <a:endParaRPr lang="en-US" sz="1100" dirty="0"/>
          </a:p>
          <a:p>
            <a:pPr algn="ctr" indent="0" marL="0">
              <a:lnSpc>
                <a:spcPts val="1500"/>
              </a:lnSpc>
              <a:buNone/>
            </a:pPr>
            <a:r>
              <a:rPr lang="en-US" sz="1100" dirty="0">
                <a:solidFill>
                  <a:srgbClr val="3D3530"/>
                </a:solidFill>
                <a:latin typeface="NanumGothic" pitchFamily="34" charset="0"/>
                <a:ea typeface="NanumGothic" pitchFamily="34" charset="-122"/>
                <a:cs typeface="NanumGothic" pitchFamily="34" charset="-120"/>
              </a:rPr>
              <a:t>표준편차 1,156원</a:t>
            </a:r>
            <a:endParaRPr lang="en-US" sz="1100" dirty="0"/>
          </a:p>
        </p:txBody>
      </p:sp>
      <p:sp>
        <p:nvSpPr>
          <p:cNvPr id="24" name="Shape 19"/>
          <p:cNvSpPr/>
          <p:nvPr/>
        </p:nvSpPr>
        <p:spPr>
          <a:xfrm>
            <a:off x="8823960" y="1463040"/>
            <a:ext cx="2560320" cy="2011680"/>
          </a:xfrm>
          <a:prstGeom prst="roundRect">
            <a:avLst>
              <a:gd name="adj" fmla="val 3636"/>
            </a:avLst>
          </a:prstGeom>
          <a:solidFill>
            <a:srgbClr val="FFFFFF"/>
          </a:solidFill>
          <a:ln w="19050">
            <a:solidFill>
              <a:srgbClr val="E2DACD"/>
            </a:solidFill>
            <a:prstDash val="solid"/>
          </a:ln>
        </p:spPr>
      </p:sp>
      <p:pic>
        <p:nvPicPr>
          <p:cNvPr id="25" name="Image 3" descr="preencoded.png">    </p:cNvPr>
          <p:cNvPicPr>
            <a:picLocks noChangeAspect="1"/>
          </p:cNvPicPr>
          <p:nvPr/>
        </p:nvPicPr>
        <p:blipFill>
          <a:blip r:embed="rId4"/>
          <a:stretch>
            <a:fillRect/>
          </a:stretch>
        </p:blipFill>
        <p:spPr>
          <a:xfrm>
            <a:off x="9921240" y="1600200"/>
            <a:ext cx="365760" cy="365760"/>
          </a:xfrm>
          <a:prstGeom prst="rect">
            <a:avLst/>
          </a:prstGeom>
        </p:spPr>
      </p:pic>
      <p:sp>
        <p:nvSpPr>
          <p:cNvPr id="26" name="Text 20"/>
          <p:cNvSpPr/>
          <p:nvPr/>
        </p:nvSpPr>
        <p:spPr>
          <a:xfrm>
            <a:off x="8915400" y="2011680"/>
            <a:ext cx="2377440" cy="228600"/>
          </a:xfrm>
          <a:prstGeom prst="rect">
            <a:avLst/>
          </a:prstGeom>
          <a:noFill/>
          <a:ln/>
        </p:spPr>
        <p:txBody>
          <a:bodyPr wrap="square" rtlCol="0" anchor="ctr"/>
          <a:lstStyle/>
          <a:p>
            <a:pPr algn="ctr" indent="0" marL="0">
              <a:buNone/>
            </a:pPr>
            <a:r>
              <a:rPr lang="en-US" sz="1050" dirty="0">
                <a:solidFill>
                  <a:srgbClr val="7A6C5D"/>
                </a:solidFill>
                <a:latin typeface="NanumGothic" pitchFamily="34" charset="0"/>
                <a:ea typeface="NanumGothic" pitchFamily="34" charset="-122"/>
                <a:cs typeface="NanumGothic" pitchFamily="34" charset="-120"/>
              </a:rPr>
              <a:t>STEP 4. 최종 판매가</a:t>
            </a:r>
            <a:endParaRPr lang="en-US" sz="1050" dirty="0"/>
          </a:p>
        </p:txBody>
      </p:sp>
      <p:sp>
        <p:nvSpPr>
          <p:cNvPr id="27" name="Text 21"/>
          <p:cNvSpPr/>
          <p:nvPr/>
        </p:nvSpPr>
        <p:spPr>
          <a:xfrm>
            <a:off x="8915400" y="2240280"/>
            <a:ext cx="2377440" cy="365760"/>
          </a:xfrm>
          <a:prstGeom prst="rect">
            <a:avLst/>
          </a:prstGeom>
          <a:noFill/>
          <a:ln/>
        </p:spPr>
        <p:txBody>
          <a:bodyPr wrap="square" rtlCol="0" anchor="ctr"/>
          <a:lstStyle/>
          <a:p>
            <a:pPr algn="ctr" indent="0" marL="0">
              <a:buNone/>
            </a:pPr>
            <a:r>
              <a:rPr lang="en-US" sz="1700" b="1" dirty="0">
                <a:solidFill>
                  <a:srgbClr val="3D3530"/>
                </a:solidFill>
                <a:latin typeface="Gmarket Sans Bold" pitchFamily="34" charset="0"/>
                <a:ea typeface="Gmarket Sans Bold" pitchFamily="34" charset="-122"/>
                <a:cs typeface="Gmarket Sans Bold" pitchFamily="34" charset="-120"/>
              </a:rPr>
              <a:t>23,845원</a:t>
            </a:r>
            <a:endParaRPr lang="en-US" sz="1700" dirty="0"/>
          </a:p>
        </p:txBody>
      </p:sp>
      <p:sp>
        <p:nvSpPr>
          <p:cNvPr id="28" name="Text 22"/>
          <p:cNvSpPr/>
          <p:nvPr/>
        </p:nvSpPr>
        <p:spPr>
          <a:xfrm>
            <a:off x="8915400" y="2651760"/>
            <a:ext cx="2377440" cy="640080"/>
          </a:xfrm>
          <a:prstGeom prst="rect">
            <a:avLst/>
          </a:prstGeom>
          <a:noFill/>
          <a:ln/>
        </p:spPr>
        <p:txBody>
          <a:bodyPr wrap="square" rtlCol="0" anchor="ctr"/>
          <a:lstStyle/>
          <a:p>
            <a:pPr algn="ctr" indent="0" marL="0">
              <a:lnSpc>
                <a:spcPts val="1500"/>
              </a:lnSpc>
              <a:buNone/>
            </a:pPr>
            <a:r>
              <a:rPr lang="en-US" sz="1100" dirty="0">
                <a:solidFill>
                  <a:srgbClr val="3D3530"/>
                </a:solidFill>
                <a:latin typeface="NanumGothic" pitchFamily="34" charset="0"/>
                <a:ea typeface="NanumGothic" pitchFamily="34" charset="-122"/>
                <a:cs typeface="NanumGothic" pitchFamily="34" charset="-120"/>
              </a:rPr>
              <a:t>중앙값 22,500원</a:t>
            </a:r>
            <a:endParaRPr lang="en-US" sz="1100" dirty="0"/>
          </a:p>
          <a:p>
            <a:pPr algn="ctr" indent="0" marL="0">
              <a:lnSpc>
                <a:spcPts val="1500"/>
              </a:lnSpc>
              <a:buNone/>
            </a:pPr>
            <a:r>
              <a:rPr lang="en-US" sz="1100" dirty="0">
                <a:solidFill>
                  <a:srgbClr val="3D3530"/>
                </a:solidFill>
                <a:latin typeface="NanumGothic" pitchFamily="34" charset="0"/>
                <a:ea typeface="NanumGothic" pitchFamily="34" charset="-122"/>
                <a:cs typeface="NanumGothic" pitchFamily="34" charset="-120"/>
              </a:rPr>
              <a:t>실제 결제 금액</a:t>
            </a:r>
            <a:endParaRPr lang="en-US" sz="1100" dirty="0"/>
          </a:p>
        </p:txBody>
      </p:sp>
      <p:sp>
        <p:nvSpPr>
          <p:cNvPr id="29" name="Shape 23"/>
          <p:cNvSpPr/>
          <p:nvPr/>
        </p:nvSpPr>
        <p:spPr>
          <a:xfrm>
            <a:off x="731520" y="3749040"/>
            <a:ext cx="10728655" cy="2194560"/>
          </a:xfrm>
          <a:prstGeom prst="roundRect">
            <a:avLst>
              <a:gd name="adj" fmla="val 3333"/>
            </a:avLst>
          </a:prstGeom>
          <a:solidFill>
            <a:srgbClr val="FFFFFF"/>
          </a:solidFill>
          <a:ln w="12700">
            <a:solidFill>
              <a:srgbClr val="E2DACD"/>
            </a:solidFill>
            <a:prstDash val="solid"/>
          </a:ln>
        </p:spPr>
      </p:sp>
      <p:sp>
        <p:nvSpPr>
          <p:cNvPr id="30" name="Text 24"/>
          <p:cNvSpPr/>
          <p:nvPr/>
        </p:nvSpPr>
        <p:spPr>
          <a:xfrm>
            <a:off x="1005840" y="3931920"/>
            <a:ext cx="100584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도서 가격 및 할인 메커니즘 3대 시사점</a:t>
            </a:r>
            <a:endParaRPr lang="en-US" sz="1500" dirty="0"/>
          </a:p>
        </p:txBody>
      </p:sp>
      <p:sp>
        <p:nvSpPr>
          <p:cNvPr id="31" name="Text 25"/>
          <p:cNvSpPr/>
          <p:nvPr/>
        </p:nvSpPr>
        <p:spPr>
          <a:xfrm>
            <a:off x="1005840" y="4343400"/>
            <a:ext cx="10149840" cy="41148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① 가격 밀집도: 베스트셀러 도서의 50% 이상이 정가 20,000원~30,000원 범위 내에 집약적으로 분포하는 정규 구조 형성</a:t>
            </a:r>
            <a:endParaRPr lang="en-US" sz="1200" dirty="0"/>
          </a:p>
        </p:txBody>
      </p:sp>
      <p:sp>
        <p:nvSpPr>
          <p:cNvPr id="32" name="Text 26"/>
          <p:cNvSpPr/>
          <p:nvPr/>
        </p:nvSpPr>
        <p:spPr>
          <a:xfrm>
            <a:off x="1005840" y="4800600"/>
            <a:ext cx="10149840" cy="41148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② 할인 고착화: 한국 도서정가제 규제(최대 10% 가격 할인)에 따라, 전체 도서의 88.9%가 정확히 10% 정률 할인을 적용함</a:t>
            </a:r>
            <a:endParaRPr lang="en-US" sz="1200" dirty="0"/>
          </a:p>
        </p:txBody>
      </p:sp>
      <p:sp>
        <p:nvSpPr>
          <p:cNvPr id="33" name="Text 27"/>
          <p:cNvSpPr/>
          <p:nvPr/>
        </p:nvSpPr>
        <p:spPr>
          <a:xfrm>
            <a:off x="1005840" y="5257800"/>
            <a:ext cx="10149840" cy="41148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③ 마케팅 경쟁 축 이동: 할인율 자체로는 가격 경쟁력을 확보할 수 없으므로, 사은품, 마일리지 적립, 독점 리워드가 본질적 마케팅 차별화 요소임</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2.4 심층 분석 ② : 판매지수 흥행 비대칭성 &amp; 롱테일 법칙</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5120640" cy="4480560"/>
          </a:xfrm>
          <a:prstGeom prst="roundRect">
            <a:avLst>
              <a:gd name="adj" fmla="val 1633"/>
            </a:avLst>
          </a:prstGeom>
          <a:solidFill>
            <a:srgbClr val="FDF2F0"/>
          </a:solidFill>
          <a:ln w="19050">
            <a:solidFill>
              <a:srgbClr val="B85042"/>
            </a:solidFill>
            <a:prstDash val="solid"/>
          </a:ln>
        </p:spPr>
      </p:sp>
      <p:pic>
        <p:nvPicPr>
          <p:cNvPr id="10" name="Image 0" descr="preencoded.png">    </p:cNvPr>
          <p:cNvPicPr>
            <a:picLocks noChangeAspect="1"/>
          </p:cNvPicPr>
          <p:nvPr/>
        </p:nvPicPr>
        <p:blipFill>
          <a:blip r:embed="rId1"/>
          <a:stretch>
            <a:fillRect/>
          </a:stretch>
        </p:blipFill>
        <p:spPr>
          <a:xfrm>
            <a:off x="1005840" y="1691640"/>
            <a:ext cx="411480" cy="411480"/>
          </a:xfrm>
          <a:prstGeom prst="rect">
            <a:avLst/>
          </a:prstGeom>
        </p:spPr>
      </p:pic>
      <p:sp>
        <p:nvSpPr>
          <p:cNvPr id="11" name="Text 8"/>
          <p:cNvSpPr/>
          <p:nvPr/>
        </p:nvSpPr>
        <p:spPr>
          <a:xfrm>
            <a:off x="1508760" y="1737360"/>
            <a:ext cx="4114800" cy="365760"/>
          </a:xfrm>
          <a:prstGeom prst="rect">
            <a:avLst/>
          </a:prstGeom>
          <a:noFill/>
          <a:ln/>
        </p:spPr>
        <p:txBody>
          <a:bodyPr wrap="square" rtlCol="0" anchor="ctr"/>
          <a:lstStyle/>
          <a:p>
            <a:pPr indent="0" marL="0">
              <a:buNone/>
            </a:pPr>
            <a:r>
              <a:rPr lang="en-US" sz="1700" b="1" dirty="0">
                <a:solidFill>
                  <a:srgbClr val="963B2F"/>
                </a:solidFill>
                <a:latin typeface="Gmarket Sans Bold" pitchFamily="34" charset="0"/>
                <a:ea typeface="Gmarket Sans Bold" pitchFamily="34" charset="-122"/>
                <a:cs typeface="Gmarket Sans Bold" pitchFamily="34" charset="-120"/>
              </a:rPr>
              <a:t>상위 5% 메가 베스트셀러 (Top 5%)</a:t>
            </a:r>
            <a:endParaRPr lang="en-US" sz="1700" dirty="0"/>
          </a:p>
        </p:txBody>
      </p:sp>
      <p:sp>
        <p:nvSpPr>
          <p:cNvPr id="12" name="Text 9"/>
          <p:cNvSpPr/>
          <p:nvPr/>
        </p:nvSpPr>
        <p:spPr>
          <a:xfrm>
            <a:off x="1005840" y="2148840"/>
            <a:ext cx="45720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판매지수: 10,000 ~ 77,061 pt</a:t>
            </a:r>
            <a:endParaRPr lang="en-US" sz="1500" dirty="0"/>
          </a:p>
        </p:txBody>
      </p:sp>
      <p:sp>
        <p:nvSpPr>
          <p:cNvPr id="13" name="Text 10"/>
          <p:cNvSpPr/>
          <p:nvPr/>
        </p:nvSpPr>
        <p:spPr>
          <a:xfrm>
            <a:off x="1005840" y="2560320"/>
            <a:ext cx="457200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전체 베스트셀러 총 판매량의 절대 다수를 압도적으로 견인</a:t>
            </a:r>
            <a:endParaRPr lang="en-US" sz="1200" dirty="0"/>
          </a:p>
        </p:txBody>
      </p:sp>
      <p:sp>
        <p:nvSpPr>
          <p:cNvPr id="14" name="Text 11"/>
          <p:cNvSpPr/>
          <p:nvPr/>
        </p:nvSpPr>
        <p:spPr>
          <a:xfrm>
            <a:off x="1005840" y="3200400"/>
            <a:ext cx="457200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주요 서적: '혼자 공부하는 바이브 코딩', '바로바로 클로드' 등 AI 킬러 콘텐츠</a:t>
            </a:r>
            <a:endParaRPr lang="en-US" sz="1200" dirty="0"/>
          </a:p>
        </p:txBody>
      </p:sp>
      <p:sp>
        <p:nvSpPr>
          <p:cNvPr id="15" name="Text 12"/>
          <p:cNvSpPr/>
          <p:nvPr/>
        </p:nvSpPr>
        <p:spPr>
          <a:xfrm>
            <a:off x="1005840" y="3840480"/>
            <a:ext cx="457200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출판사 재고 관리 및 물류 리드타임 집중 수립 필요</a:t>
            </a:r>
            <a:endParaRPr lang="en-US" sz="1200" dirty="0"/>
          </a:p>
        </p:txBody>
      </p:sp>
      <p:sp>
        <p:nvSpPr>
          <p:cNvPr id="16" name="Shape 13"/>
          <p:cNvSpPr/>
          <p:nvPr/>
        </p:nvSpPr>
        <p:spPr>
          <a:xfrm>
            <a:off x="6126480" y="1463040"/>
            <a:ext cx="5333695" cy="4480560"/>
          </a:xfrm>
          <a:prstGeom prst="roundRect">
            <a:avLst>
              <a:gd name="adj" fmla="val 1633"/>
            </a:avLst>
          </a:prstGeom>
          <a:solidFill>
            <a:srgbClr val="FFFFFF"/>
          </a:solidFill>
          <a:ln w="12700">
            <a:solidFill>
              <a:srgbClr val="E2DACD"/>
            </a:solidFill>
            <a:prstDash val="solid"/>
          </a:ln>
        </p:spPr>
      </p:sp>
      <p:sp>
        <p:nvSpPr>
          <p:cNvPr id="17" name="Text 14"/>
          <p:cNvSpPr/>
          <p:nvPr/>
        </p:nvSpPr>
        <p:spPr>
          <a:xfrm>
            <a:off x="6400800" y="1737360"/>
            <a:ext cx="4754880" cy="365760"/>
          </a:xfrm>
          <a:prstGeom prst="rect">
            <a:avLst/>
          </a:prstGeom>
          <a:noFill/>
          <a:ln/>
        </p:spPr>
        <p:txBody>
          <a:bodyPr wrap="square" rtlCol="0" anchor="ctr"/>
          <a:lstStyle/>
          <a:p>
            <a:pPr indent="0" marL="0">
              <a:buNone/>
            </a:pPr>
            <a:r>
              <a:rPr lang="en-US" sz="1700" b="1" dirty="0">
                <a:solidFill>
                  <a:srgbClr val="3D3530"/>
                </a:solidFill>
                <a:latin typeface="Gmarket Sans Bold" pitchFamily="34" charset="0"/>
                <a:ea typeface="Gmarket Sans Bold" pitchFamily="34" charset="-122"/>
                <a:cs typeface="Gmarket Sans Bold" pitchFamily="34" charset="-120"/>
              </a:rPr>
              <a:t>하위 95% 일반 베스트셀러 (Bottom 95%)</a:t>
            </a:r>
            <a:endParaRPr lang="en-US" sz="1700" dirty="0"/>
          </a:p>
        </p:txBody>
      </p:sp>
      <p:sp>
        <p:nvSpPr>
          <p:cNvPr id="18" name="Text 15"/>
          <p:cNvSpPr/>
          <p:nvPr/>
        </p:nvSpPr>
        <p:spPr>
          <a:xfrm>
            <a:off x="6400800" y="2148840"/>
            <a:ext cx="4754880" cy="320040"/>
          </a:xfrm>
          <a:prstGeom prst="rect">
            <a:avLst/>
          </a:prstGeom>
          <a:noFill/>
          <a:ln/>
        </p:spPr>
        <p:txBody>
          <a:bodyPr wrap="square" rtlCol="0" anchor="ctr"/>
          <a:lstStyle/>
          <a:p>
            <a:pPr indent="0" marL="0">
              <a:buNone/>
            </a:pPr>
            <a:r>
              <a:rPr lang="en-US" sz="1500" b="1" dirty="0">
                <a:solidFill>
                  <a:srgbClr val="7A6C5D"/>
                </a:solidFill>
                <a:latin typeface="Gmarket Sans Bold" pitchFamily="34" charset="0"/>
                <a:ea typeface="Gmarket Sans Bold" pitchFamily="34" charset="-122"/>
                <a:cs typeface="Gmarket Sans Bold" pitchFamily="34" charset="-120"/>
              </a:rPr>
              <a:t>판매지수: 60 ~ 2,446 pt (중앙값 1,144 pt)</a:t>
            </a:r>
            <a:endParaRPr lang="en-US" sz="1500" dirty="0"/>
          </a:p>
        </p:txBody>
      </p:sp>
      <p:sp>
        <p:nvSpPr>
          <p:cNvPr id="19" name="Text 16"/>
          <p:cNvSpPr/>
          <p:nvPr/>
        </p:nvSpPr>
        <p:spPr>
          <a:xfrm>
            <a:off x="6400800" y="2560320"/>
            <a:ext cx="475488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베스트셀러 목록에 등재되었으나 순위권 턱걸이 수준 유지</a:t>
            </a:r>
            <a:endParaRPr lang="en-US" sz="1200" dirty="0"/>
          </a:p>
        </p:txBody>
      </p:sp>
      <p:sp>
        <p:nvSpPr>
          <p:cNvPr id="20" name="Text 17"/>
          <p:cNvSpPr/>
          <p:nvPr/>
        </p:nvSpPr>
        <p:spPr>
          <a:xfrm>
            <a:off x="6400800" y="3200400"/>
            <a:ext cx="475488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75% 사분위수 도서조차 판매지수 2,446 수준으로 메가작과 30배 차이</a:t>
            </a:r>
            <a:endParaRPr lang="en-US" sz="1200" dirty="0"/>
          </a:p>
        </p:txBody>
      </p:sp>
      <p:sp>
        <p:nvSpPr>
          <p:cNvPr id="21" name="Text 18"/>
          <p:cNvSpPr/>
          <p:nvPr/>
        </p:nvSpPr>
        <p:spPr>
          <a:xfrm>
            <a:off x="6400800" y="3840480"/>
            <a:ext cx="475488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롱테일(Long-tail) 우측 왜도(Skewness &gt; 3.0) 구조의 명확한 증명</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2.5 심층 분석 ③ : 독자 평점 &amp; 리뷰 반응성 동역학</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5120640" cy="4480560"/>
          </a:xfrm>
          <a:prstGeom prst="roundRect">
            <a:avLst>
              <a:gd name="adj" fmla="val 1633"/>
            </a:avLst>
          </a:prstGeom>
          <a:solidFill>
            <a:srgbClr val="FFFFFF"/>
          </a:solidFill>
          <a:ln w="12700">
            <a:solidFill>
              <a:srgbClr val="E2DACD"/>
            </a:solidFill>
            <a:prstDash val="solid"/>
          </a:ln>
        </p:spPr>
      </p:sp>
      <p:pic>
        <p:nvPicPr>
          <p:cNvPr id="10" name="Image 0" descr="preencoded.png">    </p:cNvPr>
          <p:cNvPicPr>
            <a:picLocks noChangeAspect="1"/>
          </p:cNvPicPr>
          <p:nvPr/>
        </p:nvPicPr>
        <p:blipFill>
          <a:blip r:embed="rId1"/>
          <a:stretch>
            <a:fillRect/>
          </a:stretch>
        </p:blipFill>
        <p:spPr>
          <a:xfrm>
            <a:off x="1005840" y="1691640"/>
            <a:ext cx="411480" cy="411480"/>
          </a:xfrm>
          <a:prstGeom prst="rect">
            <a:avLst/>
          </a:prstGeom>
        </p:spPr>
      </p:pic>
      <p:sp>
        <p:nvSpPr>
          <p:cNvPr id="11" name="Text 8"/>
          <p:cNvSpPr/>
          <p:nvPr/>
        </p:nvSpPr>
        <p:spPr>
          <a:xfrm>
            <a:off x="1508760" y="1737360"/>
            <a:ext cx="4114800" cy="36576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독자 평점 (Rating) : 기본 조건</a:t>
            </a:r>
            <a:endParaRPr lang="en-US" sz="1500" dirty="0"/>
          </a:p>
        </p:txBody>
      </p:sp>
      <p:sp>
        <p:nvSpPr>
          <p:cNvPr id="12" name="Text 9"/>
          <p:cNvSpPr/>
          <p:nvPr/>
        </p:nvSpPr>
        <p:spPr>
          <a:xfrm>
            <a:off x="1005840" y="2103120"/>
            <a:ext cx="4572000" cy="365760"/>
          </a:xfrm>
          <a:prstGeom prst="rect">
            <a:avLst/>
          </a:prstGeom>
          <a:noFill/>
          <a:ln/>
        </p:spPr>
        <p:txBody>
          <a:bodyPr wrap="square" rtlCol="0" anchor="ctr"/>
          <a:lstStyle/>
          <a:p>
            <a:pPr indent="0" marL="0">
              <a:buNone/>
            </a:pPr>
            <a:r>
              <a:rPr lang="en-US" sz="1900" b="1" dirty="0">
                <a:solidFill>
                  <a:srgbClr val="B85042"/>
                </a:solidFill>
                <a:latin typeface="Gmarket Sans Bold" pitchFamily="34" charset="0"/>
                <a:ea typeface="Gmarket Sans Bold" pitchFamily="34" charset="-122"/>
                <a:cs typeface="Gmarket Sans Bold" pitchFamily="34" charset="-120"/>
              </a:rPr>
              <a:t>평균 9.65점 | 중앙값 9.9점</a:t>
            </a:r>
            <a:endParaRPr lang="en-US" sz="1900" dirty="0"/>
          </a:p>
        </p:txBody>
      </p:sp>
      <p:sp>
        <p:nvSpPr>
          <p:cNvPr id="13" name="Text 10"/>
          <p:cNvSpPr/>
          <p:nvPr/>
        </p:nvSpPr>
        <p:spPr>
          <a:xfrm>
            <a:off x="1005840" y="2606040"/>
            <a:ext cx="457200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25% 사분위수가 9.6점에 달하여 대부분 도서가 극히 높은 평점 확보</a:t>
            </a:r>
            <a:endParaRPr lang="en-US" sz="1200" dirty="0"/>
          </a:p>
        </p:txBody>
      </p:sp>
      <p:sp>
        <p:nvSpPr>
          <p:cNvPr id="14" name="Text 11"/>
          <p:cNvSpPr/>
          <p:nvPr/>
        </p:nvSpPr>
        <p:spPr>
          <a:xfrm>
            <a:off x="1005840" y="3246120"/>
            <a:ext cx="457200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표준편차가 0.70으로 변동성이 매우 적음 (평준화 현상)</a:t>
            </a:r>
            <a:endParaRPr lang="en-US" sz="1200" dirty="0"/>
          </a:p>
        </p:txBody>
      </p:sp>
      <p:sp>
        <p:nvSpPr>
          <p:cNvPr id="15" name="Text 12"/>
          <p:cNvSpPr/>
          <p:nvPr/>
        </p:nvSpPr>
        <p:spPr>
          <a:xfrm>
            <a:off x="1005840" y="3886200"/>
            <a:ext cx="457200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결론: 9.5점 이상의 높은 평점은 베스트셀러 진입의 최소 전제 조건(Baseline)임</a:t>
            </a:r>
            <a:endParaRPr lang="en-US" sz="1200" dirty="0"/>
          </a:p>
        </p:txBody>
      </p:sp>
      <p:sp>
        <p:nvSpPr>
          <p:cNvPr id="16" name="Shape 13"/>
          <p:cNvSpPr/>
          <p:nvPr/>
        </p:nvSpPr>
        <p:spPr>
          <a:xfrm>
            <a:off x="6126480" y="1463040"/>
            <a:ext cx="5333695" cy="4480560"/>
          </a:xfrm>
          <a:prstGeom prst="roundRect">
            <a:avLst>
              <a:gd name="adj" fmla="val 1633"/>
            </a:avLst>
          </a:prstGeom>
          <a:solidFill>
            <a:srgbClr val="FFFFFF"/>
          </a:solidFill>
          <a:ln w="12700">
            <a:solidFill>
              <a:srgbClr val="E2DACD"/>
            </a:solidFill>
            <a:prstDash val="solid"/>
          </a:ln>
        </p:spPr>
      </p:sp>
      <p:pic>
        <p:nvPicPr>
          <p:cNvPr id="17" name="Image 1" descr="preencoded.png">    </p:cNvPr>
          <p:cNvPicPr>
            <a:picLocks noChangeAspect="1"/>
          </p:cNvPicPr>
          <p:nvPr/>
        </p:nvPicPr>
        <p:blipFill>
          <a:blip r:embed="rId2"/>
          <a:stretch>
            <a:fillRect/>
          </a:stretch>
        </p:blipFill>
        <p:spPr>
          <a:xfrm>
            <a:off x="6400800" y="1691640"/>
            <a:ext cx="411480" cy="411480"/>
          </a:xfrm>
          <a:prstGeom prst="rect">
            <a:avLst/>
          </a:prstGeom>
        </p:spPr>
      </p:pic>
      <p:sp>
        <p:nvSpPr>
          <p:cNvPr id="18" name="Text 14"/>
          <p:cNvSpPr/>
          <p:nvPr/>
        </p:nvSpPr>
        <p:spPr>
          <a:xfrm>
            <a:off x="6903720" y="1737360"/>
            <a:ext cx="4389120" cy="36576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리뷰 수 (Review Count) : 흥행 지속 파워</a:t>
            </a:r>
            <a:endParaRPr lang="en-US" sz="1500" dirty="0"/>
          </a:p>
        </p:txBody>
      </p:sp>
      <p:sp>
        <p:nvSpPr>
          <p:cNvPr id="19" name="Text 15"/>
          <p:cNvSpPr/>
          <p:nvPr/>
        </p:nvSpPr>
        <p:spPr>
          <a:xfrm>
            <a:off x="6400800" y="2103120"/>
            <a:ext cx="4754880" cy="365760"/>
          </a:xfrm>
          <a:prstGeom prst="rect">
            <a:avLst/>
          </a:prstGeom>
          <a:noFill/>
          <a:ln/>
        </p:spPr>
        <p:txBody>
          <a:bodyPr wrap="square" rtlCol="0" anchor="ctr"/>
          <a:lstStyle/>
          <a:p>
            <a:pPr indent="0" marL="0">
              <a:buNone/>
            </a:pPr>
            <a:r>
              <a:rPr lang="en-US" sz="1900" b="1" dirty="0">
                <a:solidFill>
                  <a:srgbClr val="963B2F"/>
                </a:solidFill>
                <a:latin typeface="Gmarket Sans Bold" pitchFamily="34" charset="0"/>
                <a:ea typeface="Gmarket Sans Bold" pitchFamily="34" charset="-122"/>
                <a:cs typeface="Gmarket Sans Bold" pitchFamily="34" charset="-120"/>
              </a:rPr>
              <a:t>평균 26.9건 | 최댓값 1,991건</a:t>
            </a:r>
            <a:endParaRPr lang="en-US" sz="1900" dirty="0"/>
          </a:p>
        </p:txBody>
      </p:sp>
      <p:sp>
        <p:nvSpPr>
          <p:cNvPr id="20" name="Text 16"/>
          <p:cNvSpPr/>
          <p:nvPr/>
        </p:nvSpPr>
        <p:spPr>
          <a:xfrm>
            <a:off x="6400800" y="2606040"/>
            <a:ext cx="475488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중앙값은 14건 수준이나, 스테디셀러의 경우 1,000건 이상 폭발적 축적</a:t>
            </a:r>
            <a:endParaRPr lang="en-US" sz="1200" dirty="0"/>
          </a:p>
        </p:txBody>
      </p:sp>
      <p:sp>
        <p:nvSpPr>
          <p:cNvPr id="21" name="Text 17"/>
          <p:cNvSpPr/>
          <p:nvPr/>
        </p:nvSpPr>
        <p:spPr>
          <a:xfrm>
            <a:off x="6400800" y="3246120"/>
            <a:ext cx="475488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독자 리뷰의 절대 볼륨(Absolute Volume)이 구전 효과(WOM) 창출</a:t>
            </a:r>
            <a:endParaRPr lang="en-US" sz="1200" dirty="0"/>
          </a:p>
        </p:txBody>
      </p:sp>
      <p:sp>
        <p:nvSpPr>
          <p:cNvPr id="22" name="Text 18"/>
          <p:cNvSpPr/>
          <p:nvPr/>
        </p:nvSpPr>
        <p:spPr>
          <a:xfrm>
            <a:off x="6400800" y="3886200"/>
            <a:ext cx="4754880" cy="548640"/>
          </a:xfrm>
          <a:prstGeom prst="rect">
            <a:avLst/>
          </a:prstGeom>
          <a:noFill/>
          <a:ln/>
        </p:spPr>
        <p:txBody>
          <a:bodyPr wrap="square" rtlCol="0" anchor="ctr"/>
          <a:lstStyle/>
          <a:p>
            <a:pPr indent="0" marL="0">
              <a:lnSpc>
                <a:spcPts val="1600"/>
              </a:lnSpc>
              <a:buNone/>
            </a:pPr>
            <a:r>
              <a:rPr lang="en-US" sz="1200" dirty="0">
                <a:solidFill>
                  <a:srgbClr val="3D3530"/>
                </a:solidFill>
                <a:latin typeface="NanumGothic" pitchFamily="34" charset="0"/>
                <a:ea typeface="NanumGothic" pitchFamily="34" charset="-122"/>
                <a:cs typeface="NanumGothic" pitchFamily="34" charset="-120"/>
              </a:rPr>
              <a:t>• 결론: 리뷰 볼륨 생성이 베스트셀러의 수명(Lifetime) 확장 핵심 동력임</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2.6 심층 분석 ④ : 출판사 &amp; 저자 파워 지형도</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3474720" cy="4480560"/>
          </a:xfrm>
          <a:prstGeom prst="roundRect">
            <a:avLst>
              <a:gd name="adj" fmla="val 2105"/>
            </a:avLst>
          </a:prstGeom>
          <a:solidFill>
            <a:srgbClr val="FFFFFF"/>
          </a:solidFill>
          <a:ln w="12700">
            <a:solidFill>
              <a:srgbClr val="E2DACD"/>
            </a:solidFill>
            <a:prstDash val="solid"/>
          </a:ln>
        </p:spPr>
      </p:sp>
      <p:pic>
        <p:nvPicPr>
          <p:cNvPr id="10" name="Image 0" descr="preencoded.png">    </p:cNvPr>
          <p:cNvPicPr>
            <a:picLocks noChangeAspect="1"/>
          </p:cNvPicPr>
          <p:nvPr/>
        </p:nvPicPr>
        <p:blipFill>
          <a:blip r:embed="rId1"/>
          <a:stretch>
            <a:fillRect/>
          </a:stretch>
        </p:blipFill>
        <p:spPr>
          <a:xfrm>
            <a:off x="1005840" y="1691640"/>
            <a:ext cx="411480" cy="411480"/>
          </a:xfrm>
          <a:prstGeom prst="rect">
            <a:avLst/>
          </a:prstGeom>
        </p:spPr>
      </p:pic>
      <p:sp>
        <p:nvSpPr>
          <p:cNvPr id="11" name="Text 8"/>
          <p:cNvSpPr/>
          <p:nvPr/>
        </p:nvSpPr>
        <p:spPr>
          <a:xfrm>
            <a:off x="1508760" y="1737360"/>
            <a:ext cx="2468880" cy="36576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출판사 과점 생태계</a:t>
            </a:r>
            <a:endParaRPr lang="en-US" sz="1500" dirty="0"/>
          </a:p>
        </p:txBody>
      </p:sp>
      <p:sp>
        <p:nvSpPr>
          <p:cNvPr id="12" name="Text 9"/>
          <p:cNvSpPr/>
          <p:nvPr/>
        </p:nvSpPr>
        <p:spPr>
          <a:xfrm>
            <a:off x="1005840" y="2286000"/>
            <a:ext cx="2926080" cy="548640"/>
          </a:xfrm>
          <a:prstGeom prst="rect">
            <a:avLst/>
          </a:prstGeom>
          <a:noFill/>
          <a:ln/>
        </p:spPr>
        <p:txBody>
          <a:bodyPr wrap="square" rtlCol="0" anchor="ctr"/>
          <a:lstStyle/>
          <a:p>
            <a:pPr indent="0" marL="0">
              <a:lnSpc>
                <a:spcPts val="1600"/>
              </a:lnSpc>
              <a:buNone/>
            </a:pPr>
            <a:r>
              <a:rPr lang="en-US" sz="1300" b="1" dirty="0">
                <a:solidFill>
                  <a:srgbClr val="B85042"/>
                </a:solidFill>
                <a:latin typeface="Gmarket Sans Bold" pitchFamily="34" charset="0"/>
                <a:ea typeface="Gmarket Sans Bold" pitchFamily="34" charset="-122"/>
                <a:cs typeface="Gmarket Sans Bold" pitchFamily="34" charset="-120"/>
              </a:rPr>
              <a:t>Top 10 출판사 점유율 40%+</a:t>
            </a:r>
            <a:endParaRPr lang="en-US" sz="1300" dirty="0"/>
          </a:p>
        </p:txBody>
      </p:sp>
      <p:sp>
        <p:nvSpPr>
          <p:cNvPr id="13" name="Text 10"/>
          <p:cNvSpPr/>
          <p:nvPr/>
        </p:nvSpPr>
        <p:spPr>
          <a:xfrm>
            <a:off x="1005840" y="2926080"/>
            <a:ext cx="2926080" cy="274320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한빛미디어(149권), 길벗(79권), 이지스(55권), 골든래빗(50권) 등 대형 IT/전문서 브랜드가 기획력과 유통 독점</a:t>
            </a:r>
            <a:endParaRPr lang="en-US" sz="1200" dirty="0"/>
          </a:p>
        </p:txBody>
      </p:sp>
      <p:sp>
        <p:nvSpPr>
          <p:cNvPr id="14" name="Shape 11"/>
          <p:cNvSpPr/>
          <p:nvPr/>
        </p:nvSpPr>
        <p:spPr>
          <a:xfrm>
            <a:off x="4343400" y="1463040"/>
            <a:ext cx="3474720" cy="4480560"/>
          </a:xfrm>
          <a:prstGeom prst="roundRect">
            <a:avLst>
              <a:gd name="adj" fmla="val 2105"/>
            </a:avLst>
          </a:prstGeom>
          <a:solidFill>
            <a:srgbClr val="FFFFFF"/>
          </a:solidFill>
          <a:ln w="12700">
            <a:solidFill>
              <a:srgbClr val="E2DACD"/>
            </a:solidFill>
            <a:prstDash val="solid"/>
          </a:ln>
        </p:spPr>
      </p:sp>
      <p:pic>
        <p:nvPicPr>
          <p:cNvPr id="15" name="Image 1" descr="preencoded.png">    </p:cNvPr>
          <p:cNvPicPr>
            <a:picLocks noChangeAspect="1"/>
          </p:cNvPicPr>
          <p:nvPr/>
        </p:nvPicPr>
        <p:blipFill>
          <a:blip r:embed="rId2"/>
          <a:stretch>
            <a:fillRect/>
          </a:stretch>
        </p:blipFill>
        <p:spPr>
          <a:xfrm>
            <a:off x="4617720" y="1691640"/>
            <a:ext cx="411480" cy="411480"/>
          </a:xfrm>
          <a:prstGeom prst="rect">
            <a:avLst/>
          </a:prstGeom>
        </p:spPr>
      </p:pic>
      <p:sp>
        <p:nvSpPr>
          <p:cNvPr id="16" name="Text 12"/>
          <p:cNvSpPr/>
          <p:nvPr/>
        </p:nvSpPr>
        <p:spPr>
          <a:xfrm>
            <a:off x="5120640" y="1737360"/>
            <a:ext cx="2468880" cy="36576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저자 브랜딩 파워</a:t>
            </a:r>
            <a:endParaRPr lang="en-US" sz="1500" dirty="0"/>
          </a:p>
        </p:txBody>
      </p:sp>
      <p:sp>
        <p:nvSpPr>
          <p:cNvPr id="17" name="Text 13"/>
          <p:cNvSpPr/>
          <p:nvPr/>
        </p:nvSpPr>
        <p:spPr>
          <a:xfrm>
            <a:off x="4617720" y="2286000"/>
            <a:ext cx="2926080" cy="548640"/>
          </a:xfrm>
          <a:prstGeom prst="rect">
            <a:avLst/>
          </a:prstGeom>
          <a:noFill/>
          <a:ln/>
        </p:spPr>
        <p:txBody>
          <a:bodyPr wrap="square" rtlCol="0" anchor="ctr"/>
          <a:lstStyle/>
          <a:p>
            <a:pPr indent="0" marL="0">
              <a:lnSpc>
                <a:spcPts val="1600"/>
              </a:lnSpc>
              <a:buNone/>
            </a:pPr>
            <a:r>
              <a:rPr lang="en-US" sz="1300" b="1" dirty="0">
                <a:solidFill>
                  <a:srgbClr val="B85042"/>
                </a:solidFill>
                <a:latin typeface="Gmarket Sans Bold" pitchFamily="34" charset="0"/>
                <a:ea typeface="Gmarket Sans Bold" pitchFamily="34" charset="-122"/>
                <a:cs typeface="Gmarket Sans Bold" pitchFamily="34" charset="-120"/>
              </a:rPr>
              <a:t>검증된 베스트셀러 저자의 연쇄 흥행</a:t>
            </a:r>
            <a:endParaRPr lang="en-US" sz="1300" dirty="0"/>
          </a:p>
        </p:txBody>
      </p:sp>
      <p:sp>
        <p:nvSpPr>
          <p:cNvPr id="18" name="Text 14"/>
          <p:cNvSpPr/>
          <p:nvPr/>
        </p:nvSpPr>
        <p:spPr>
          <a:xfrm>
            <a:off x="4617720" y="2926080"/>
            <a:ext cx="2926080" cy="274320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Mojang Studio(16권), 조태호, 차진우 등 AI/코딩 저자의 팬덤 및 신뢰도가 차기작 판매량 즉각 견인</a:t>
            </a:r>
            <a:endParaRPr lang="en-US" sz="1200" dirty="0"/>
          </a:p>
        </p:txBody>
      </p:sp>
      <p:sp>
        <p:nvSpPr>
          <p:cNvPr id="19" name="Shape 15"/>
          <p:cNvSpPr/>
          <p:nvPr/>
        </p:nvSpPr>
        <p:spPr>
          <a:xfrm>
            <a:off x="7955280" y="1463040"/>
            <a:ext cx="3474720" cy="4480560"/>
          </a:xfrm>
          <a:prstGeom prst="roundRect">
            <a:avLst>
              <a:gd name="adj" fmla="val 2105"/>
            </a:avLst>
          </a:prstGeom>
          <a:solidFill>
            <a:srgbClr val="FFFFFF"/>
          </a:solidFill>
          <a:ln w="12700">
            <a:solidFill>
              <a:srgbClr val="E2DACD"/>
            </a:solidFill>
            <a:prstDash val="solid"/>
          </a:ln>
        </p:spPr>
      </p:sp>
      <p:pic>
        <p:nvPicPr>
          <p:cNvPr id="20" name="Image 2" descr="preencoded.png">    </p:cNvPr>
          <p:cNvPicPr>
            <a:picLocks noChangeAspect="1"/>
          </p:cNvPicPr>
          <p:nvPr/>
        </p:nvPicPr>
        <p:blipFill>
          <a:blip r:embed="rId3"/>
          <a:stretch>
            <a:fillRect/>
          </a:stretch>
        </p:blipFill>
        <p:spPr>
          <a:xfrm>
            <a:off x="8229600" y="1691640"/>
            <a:ext cx="411480" cy="411480"/>
          </a:xfrm>
          <a:prstGeom prst="rect">
            <a:avLst/>
          </a:prstGeom>
        </p:spPr>
      </p:pic>
      <p:sp>
        <p:nvSpPr>
          <p:cNvPr id="21" name="Text 16"/>
          <p:cNvSpPr/>
          <p:nvPr/>
        </p:nvSpPr>
        <p:spPr>
          <a:xfrm>
            <a:off x="8732520" y="1737360"/>
            <a:ext cx="2468880" cy="36576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신간 집중 마케팅 골든타임</a:t>
            </a:r>
            <a:endParaRPr lang="en-US" sz="1500" dirty="0"/>
          </a:p>
        </p:txBody>
      </p:sp>
      <p:sp>
        <p:nvSpPr>
          <p:cNvPr id="22" name="Text 17"/>
          <p:cNvSpPr/>
          <p:nvPr/>
        </p:nvSpPr>
        <p:spPr>
          <a:xfrm>
            <a:off x="8229600" y="2286000"/>
            <a:ext cx="2926080" cy="548640"/>
          </a:xfrm>
          <a:prstGeom prst="rect">
            <a:avLst/>
          </a:prstGeom>
          <a:noFill/>
          <a:ln/>
        </p:spPr>
        <p:txBody>
          <a:bodyPr wrap="square" rtlCol="0" anchor="ctr"/>
          <a:lstStyle/>
          <a:p>
            <a:pPr indent="0" marL="0">
              <a:lnSpc>
                <a:spcPts val="1600"/>
              </a:lnSpc>
              <a:buNone/>
            </a:pPr>
            <a:r>
              <a:rPr lang="en-US" sz="1300" b="1" dirty="0">
                <a:solidFill>
                  <a:srgbClr val="B85042"/>
                </a:solidFill>
                <a:latin typeface="Gmarket Sans Bold" pitchFamily="34" charset="0"/>
                <a:ea typeface="Gmarket Sans Bold" pitchFamily="34" charset="-122"/>
                <a:cs typeface="Gmarket Sans Bold" pitchFamily="34" charset="-120"/>
              </a:rPr>
              <a:t>출간 후 1~3개월 신간 효과 피크</a:t>
            </a:r>
            <a:endParaRPr lang="en-US" sz="1300" dirty="0"/>
          </a:p>
        </p:txBody>
      </p:sp>
      <p:sp>
        <p:nvSpPr>
          <p:cNvPr id="23" name="Text 18"/>
          <p:cNvSpPr/>
          <p:nvPr/>
        </p:nvSpPr>
        <p:spPr>
          <a:xfrm>
            <a:off x="8229600" y="2926080"/>
            <a:ext cx="2926080" cy="274320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2026년 7월 출간작 87권 진입. 출간 초기 1개월 이내 마케팅 자원 집중 투입이 베스트셀러 안착의 승패 결정</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3.1 [Chart 1] YES24 베스트셀러 판매지수 분포 (Univariate)</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1_sales_index_dist.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통계 요약표</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822960"/>
                <a:gridCol w="548640"/>
                <a:gridCol w="731520"/>
                <a:gridCol w="731520"/>
                <a:gridCol w="457200"/>
                <a:gridCol w="640080"/>
                <a:gridCol w="578815"/>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지표</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Count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Mean</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Std</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Min</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Max</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판매지수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1,000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2,768.4</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6,878.7</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60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1,144.5</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77,061</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265176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심층 해석</a:t>
            </a:r>
            <a:endParaRPr lang="en-US" sz="1400" dirty="0"/>
          </a:p>
        </p:txBody>
      </p:sp>
      <p:sp>
        <p:nvSpPr>
          <p:cNvPr id="14" name="Text 10"/>
          <p:cNvSpPr/>
          <p:nvPr/>
        </p:nvSpPr>
        <p:spPr>
          <a:xfrm>
            <a:off x="6766560" y="2971800"/>
            <a:ext cx="4510735" cy="283464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판매지수 분포는 극심한 우측 꼬리 분포(Right-skewed)를 보입니다. 대부분의 베스트셀러 도서는 판매지수 5,000 미만 구간에 조밀하게 밀집해 있는 반면, 상위 1%에 해당하는 초대형 흥행작들이 판매지수 50,000~77,000 구간에 위치하고 있습니다.</a:t>
            </a:r>
            <a:endParaRPr lang="en-US" sz="1100" dirty="0"/>
          </a:p>
          <a:p>
            <a:pPr indent="0" marL="0">
              <a:lnSpc>
                <a:spcPts val="1600"/>
              </a:lnSpc>
              <a:buNone/>
            </a:pPr>
            <a:endParaRPr lang="en-US" sz="1100" dirty="0"/>
          </a:p>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이는 베스트셀러 순위에 등재된 책이라 할지라도 상위권 메가 베스트셀러와 하위권 베스트셀러 간의 실질 판매 격차가 수십 배에 달함을 의미합니다. 상위 5% 메가 베스트셀러의 재고 및 리드타임 집중 관리 전략이 필수적입니다.</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3.1 [Chart 1] 판매지수 구간별 대응 프로세스</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10728655" cy="1325880"/>
          </a:xfrm>
          <a:prstGeom prst="roundRect">
            <a:avLst>
              <a:gd name="adj" fmla="val 5517"/>
            </a:avLst>
          </a:prstGeom>
          <a:solidFill>
            <a:srgbClr val="FDF2F0"/>
          </a:solidFill>
          <a:ln w="19050">
            <a:solidFill>
              <a:srgbClr val="B85042"/>
            </a:solidFill>
            <a:prstDash val="solid"/>
          </a:ln>
        </p:spPr>
      </p:sp>
      <p:sp>
        <p:nvSpPr>
          <p:cNvPr id="10" name="Text 8"/>
          <p:cNvSpPr/>
          <p:nvPr/>
        </p:nvSpPr>
        <p:spPr>
          <a:xfrm>
            <a:off x="1005840" y="1645920"/>
            <a:ext cx="4114800" cy="320040"/>
          </a:xfrm>
          <a:prstGeom prst="rect">
            <a:avLst/>
          </a:prstGeom>
          <a:noFill/>
          <a:ln/>
        </p:spPr>
        <p:txBody>
          <a:bodyPr wrap="square" rtlCol="0" anchor="ctr"/>
          <a:lstStyle/>
          <a:p>
            <a:pPr indent="0" marL="0">
              <a:buNone/>
            </a:pPr>
            <a:r>
              <a:rPr lang="en-US" sz="1600" b="1" dirty="0">
                <a:solidFill>
                  <a:srgbClr val="963B2F"/>
                </a:solidFill>
                <a:latin typeface="Gmarket Sans Bold" pitchFamily="34" charset="0"/>
                <a:ea typeface="Gmarket Sans Bold" pitchFamily="34" charset="-122"/>
                <a:cs typeface="Gmarket Sans Bold" pitchFamily="34" charset="-120"/>
              </a:rPr>
              <a:t>구간 1: S-Grade (메가작)</a:t>
            </a:r>
            <a:endParaRPr lang="en-US" sz="1600" dirty="0"/>
          </a:p>
        </p:txBody>
      </p:sp>
      <p:sp>
        <p:nvSpPr>
          <p:cNvPr id="11" name="Text 9"/>
          <p:cNvSpPr/>
          <p:nvPr/>
        </p:nvSpPr>
        <p:spPr>
          <a:xfrm>
            <a:off x="1005840" y="2011680"/>
            <a:ext cx="4114800" cy="274320"/>
          </a:xfrm>
          <a:prstGeom prst="rect">
            <a:avLst/>
          </a:prstGeom>
          <a:noFill/>
          <a:ln/>
        </p:spPr>
        <p:txBody>
          <a:bodyPr wrap="square" rtlCol="0" anchor="ctr"/>
          <a:lstStyle/>
          <a:p>
            <a:pPr indent="0" marL="0">
              <a:buNone/>
            </a:pPr>
            <a:r>
              <a:rPr lang="en-US" sz="1200" dirty="0">
                <a:solidFill>
                  <a:srgbClr val="7A6C5D"/>
                </a:solidFill>
                <a:latin typeface="NanumGothic" pitchFamily="34" charset="0"/>
                <a:ea typeface="NanumGothic" pitchFamily="34" charset="-122"/>
                <a:cs typeface="NanumGothic" pitchFamily="34" charset="-120"/>
              </a:rPr>
              <a:t>판매지수 10,000 pt 이상</a:t>
            </a:r>
            <a:endParaRPr lang="en-US" sz="1200" dirty="0"/>
          </a:p>
        </p:txBody>
      </p:sp>
      <p:sp>
        <p:nvSpPr>
          <p:cNvPr id="12" name="Text 10"/>
          <p:cNvSpPr/>
          <p:nvPr/>
        </p:nvSpPr>
        <p:spPr>
          <a:xfrm>
            <a:off x="5029200" y="1645920"/>
            <a:ext cx="6126480" cy="91440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안전재고 상시 확보 &amp; 물류 리드타임 제로화. 마케팅 예산 추가 투입으로 스테디셀러화 추진</a:t>
            </a:r>
            <a:endParaRPr lang="en-US" sz="1200" dirty="0"/>
          </a:p>
        </p:txBody>
      </p:sp>
      <p:sp>
        <p:nvSpPr>
          <p:cNvPr id="13" name="Shape 11"/>
          <p:cNvSpPr/>
          <p:nvPr/>
        </p:nvSpPr>
        <p:spPr>
          <a:xfrm>
            <a:off x="731520" y="3017520"/>
            <a:ext cx="10728655" cy="1325880"/>
          </a:xfrm>
          <a:prstGeom prst="roundRect">
            <a:avLst>
              <a:gd name="adj" fmla="val 5517"/>
            </a:avLst>
          </a:prstGeom>
          <a:solidFill>
            <a:srgbClr val="FFFFFF"/>
          </a:solidFill>
          <a:ln w="19050">
            <a:solidFill>
              <a:srgbClr val="E2DACD"/>
            </a:solidFill>
            <a:prstDash val="solid"/>
          </a:ln>
        </p:spPr>
      </p:sp>
      <p:sp>
        <p:nvSpPr>
          <p:cNvPr id="14" name="Text 12"/>
          <p:cNvSpPr/>
          <p:nvPr/>
        </p:nvSpPr>
        <p:spPr>
          <a:xfrm>
            <a:off x="1005840" y="3200400"/>
            <a:ext cx="4114800" cy="32004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구간 2: A-Grade (주요작)</a:t>
            </a:r>
            <a:endParaRPr lang="en-US" sz="1600" dirty="0"/>
          </a:p>
        </p:txBody>
      </p:sp>
      <p:sp>
        <p:nvSpPr>
          <p:cNvPr id="15" name="Text 13"/>
          <p:cNvSpPr/>
          <p:nvPr/>
        </p:nvSpPr>
        <p:spPr>
          <a:xfrm>
            <a:off x="1005840" y="3566160"/>
            <a:ext cx="4114800" cy="274320"/>
          </a:xfrm>
          <a:prstGeom prst="rect">
            <a:avLst/>
          </a:prstGeom>
          <a:noFill/>
          <a:ln/>
        </p:spPr>
        <p:txBody>
          <a:bodyPr wrap="square" rtlCol="0" anchor="ctr"/>
          <a:lstStyle/>
          <a:p>
            <a:pPr indent="0" marL="0">
              <a:buNone/>
            </a:pPr>
            <a:r>
              <a:rPr lang="en-US" sz="1200" dirty="0">
                <a:solidFill>
                  <a:srgbClr val="7A6C5D"/>
                </a:solidFill>
                <a:latin typeface="NanumGothic" pitchFamily="34" charset="0"/>
                <a:ea typeface="NanumGothic" pitchFamily="34" charset="-122"/>
                <a:cs typeface="NanumGothic" pitchFamily="34" charset="-120"/>
              </a:rPr>
              <a:t>판매지수 2,500 ~ 9,999 pt</a:t>
            </a:r>
            <a:endParaRPr lang="en-US" sz="1200" dirty="0"/>
          </a:p>
        </p:txBody>
      </p:sp>
      <p:sp>
        <p:nvSpPr>
          <p:cNvPr id="16" name="Text 14"/>
          <p:cNvSpPr/>
          <p:nvPr/>
        </p:nvSpPr>
        <p:spPr>
          <a:xfrm>
            <a:off x="5029200" y="3200400"/>
            <a:ext cx="6126480" cy="91440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리뷰 수 30건 조기 확보 및 대표저자 팬덤 서평단 운영. 10% 할인 외 독점 굿즈 제공</a:t>
            </a:r>
            <a:endParaRPr lang="en-US" sz="1200" dirty="0"/>
          </a:p>
        </p:txBody>
      </p:sp>
      <p:sp>
        <p:nvSpPr>
          <p:cNvPr id="17" name="Shape 15"/>
          <p:cNvSpPr/>
          <p:nvPr/>
        </p:nvSpPr>
        <p:spPr>
          <a:xfrm>
            <a:off x="731520" y="4572000"/>
            <a:ext cx="10728655" cy="1325880"/>
          </a:xfrm>
          <a:prstGeom prst="roundRect">
            <a:avLst>
              <a:gd name="adj" fmla="val 5517"/>
            </a:avLst>
          </a:prstGeom>
          <a:solidFill>
            <a:srgbClr val="FFFFFF"/>
          </a:solidFill>
          <a:ln w="19050">
            <a:solidFill>
              <a:srgbClr val="E2DACD"/>
            </a:solidFill>
            <a:prstDash val="solid"/>
          </a:ln>
        </p:spPr>
      </p:sp>
      <p:sp>
        <p:nvSpPr>
          <p:cNvPr id="18" name="Text 16"/>
          <p:cNvSpPr/>
          <p:nvPr/>
        </p:nvSpPr>
        <p:spPr>
          <a:xfrm>
            <a:off x="1005840" y="4754880"/>
            <a:ext cx="4114800" cy="32004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구간 3: B-Grade (일반작)</a:t>
            </a:r>
            <a:endParaRPr lang="en-US" sz="1600" dirty="0"/>
          </a:p>
        </p:txBody>
      </p:sp>
      <p:sp>
        <p:nvSpPr>
          <p:cNvPr id="19" name="Text 17"/>
          <p:cNvSpPr/>
          <p:nvPr/>
        </p:nvSpPr>
        <p:spPr>
          <a:xfrm>
            <a:off x="1005840" y="5120640"/>
            <a:ext cx="4114800" cy="274320"/>
          </a:xfrm>
          <a:prstGeom prst="rect">
            <a:avLst/>
          </a:prstGeom>
          <a:noFill/>
          <a:ln/>
        </p:spPr>
        <p:txBody>
          <a:bodyPr wrap="square" rtlCol="0" anchor="ctr"/>
          <a:lstStyle/>
          <a:p>
            <a:pPr indent="0" marL="0">
              <a:buNone/>
            </a:pPr>
            <a:r>
              <a:rPr lang="en-US" sz="1200" dirty="0">
                <a:solidFill>
                  <a:srgbClr val="7A6C5D"/>
                </a:solidFill>
                <a:latin typeface="NanumGothic" pitchFamily="34" charset="0"/>
                <a:ea typeface="NanumGothic" pitchFamily="34" charset="-122"/>
                <a:cs typeface="NanumGothic" pitchFamily="34" charset="-120"/>
              </a:rPr>
              <a:t>판매지수 2,500 pt 미만</a:t>
            </a:r>
            <a:endParaRPr lang="en-US" sz="1200" dirty="0"/>
          </a:p>
        </p:txBody>
      </p:sp>
      <p:sp>
        <p:nvSpPr>
          <p:cNvPr id="20" name="Text 18"/>
          <p:cNvSpPr/>
          <p:nvPr/>
        </p:nvSpPr>
        <p:spPr>
          <a:xfrm>
            <a:off x="5029200" y="4754880"/>
            <a:ext cx="6126480" cy="91440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체과 재고 방지를 위한 주문형 생산(POD) 및 온라인 기획전 연계로 순위 방어</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3.2 [Chart 2] 도서 정가 및 판매가 분포 비교 (Boxplot)</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2_price_distribution.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통계 요약표</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097280"/>
                <a:gridCol w="731520"/>
                <a:gridCol w="731520"/>
                <a:gridCol w="640080"/>
                <a:gridCol w="640080"/>
                <a:gridCol w="670255"/>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변수명</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Mean</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Std</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Min</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Max</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정가_num</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26,128</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9,550.5</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10,000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25,000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127,100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판매가_num</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23,845</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8,923.6</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9,000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22,500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127,100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할인금액</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2,282.8</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1,156.2</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2,300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8,000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0175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심층 해석</a:t>
            </a:r>
            <a:endParaRPr lang="en-US" sz="1400" dirty="0"/>
          </a:p>
        </p:txBody>
      </p:sp>
      <p:sp>
        <p:nvSpPr>
          <p:cNvPr id="14" name="Text 10"/>
          <p:cNvSpPr/>
          <p:nvPr/>
        </p:nvSpPr>
        <p:spPr>
          <a:xfrm>
            <a:off x="6766560" y="3337560"/>
            <a:ext cx="4510735" cy="24688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도서 정가와 판매가의 박스플롯 비교 결과, 두 가격 변수의 사분위 범위(IQR)가 완벽히 평행하게 형성되어 있습니다. 정가의 상위 25%~75% 구간은 20,000원에서 30,000원 사이이며, 판매가는 18,000원에서 27,000원 사이입니다. 정가 대비 판매가의 일정한 차이는 10% 가격 할인이 베스트셀러 전반에 거쳐 엄격하게 적용되고 있음을 증명합니다.</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3.2 가격대별 분포 &amp; 고가 서적 이상치 해석</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5120640" cy="4480560"/>
          </a:xfrm>
          <a:prstGeom prst="roundRect">
            <a:avLst>
              <a:gd name="adj" fmla="val 1633"/>
            </a:avLst>
          </a:prstGeom>
          <a:solidFill>
            <a:srgbClr val="FFFFFF"/>
          </a:solidFill>
          <a:ln w="12700">
            <a:solidFill>
              <a:srgbClr val="E2DACD"/>
            </a:solidFill>
            <a:prstDash val="solid"/>
          </a:ln>
        </p:spPr>
      </p:sp>
      <p:sp>
        <p:nvSpPr>
          <p:cNvPr id="10" name="Text 8"/>
          <p:cNvSpPr/>
          <p:nvPr/>
        </p:nvSpPr>
        <p:spPr>
          <a:xfrm>
            <a:off x="1005840" y="1737360"/>
            <a:ext cx="4572000" cy="36576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표준 베스트셀러 가격대</a:t>
            </a:r>
            <a:endParaRPr lang="en-US" sz="1600" dirty="0"/>
          </a:p>
        </p:txBody>
      </p:sp>
      <p:sp>
        <p:nvSpPr>
          <p:cNvPr id="11" name="Text 9"/>
          <p:cNvSpPr/>
          <p:nvPr/>
        </p:nvSpPr>
        <p:spPr>
          <a:xfrm>
            <a:off x="1005840" y="2148840"/>
            <a:ext cx="4572000" cy="365760"/>
          </a:xfrm>
          <a:prstGeom prst="rect">
            <a:avLst/>
          </a:prstGeom>
          <a:noFill/>
          <a:ln/>
        </p:spPr>
        <p:txBody>
          <a:bodyPr wrap="square" rtlCol="0" anchor="ctr"/>
          <a:lstStyle/>
          <a:p>
            <a:pPr indent="0" marL="0">
              <a:buNone/>
            </a:pPr>
            <a:r>
              <a:rPr lang="en-US" sz="1700" b="1" dirty="0">
                <a:solidFill>
                  <a:srgbClr val="B85042"/>
                </a:solidFill>
                <a:latin typeface="Gmarket Sans Bold" pitchFamily="34" charset="0"/>
                <a:ea typeface="Gmarket Sans Bold" pitchFamily="34" charset="-122"/>
                <a:cs typeface="Gmarket Sans Bold" pitchFamily="34" charset="-120"/>
              </a:rPr>
              <a:t>정가 20,000원 ~ 30,000원 구간</a:t>
            </a:r>
            <a:endParaRPr lang="en-US" sz="1700" dirty="0"/>
          </a:p>
        </p:txBody>
      </p:sp>
      <p:sp>
        <p:nvSpPr>
          <p:cNvPr id="12" name="Text 10"/>
          <p:cNvSpPr/>
          <p:nvPr/>
        </p:nvSpPr>
        <p:spPr>
          <a:xfrm>
            <a:off x="1005840" y="2651760"/>
            <a:ext cx="4572000" cy="54864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 체감 가격 저항선 25,000원 안팎 형성</a:t>
            </a:r>
            <a:endParaRPr lang="en-US" sz="1200" dirty="0"/>
          </a:p>
        </p:txBody>
      </p:sp>
      <p:sp>
        <p:nvSpPr>
          <p:cNvPr id="13" name="Text 11"/>
          <p:cNvSpPr/>
          <p:nvPr/>
        </p:nvSpPr>
        <p:spPr>
          <a:xfrm>
            <a:off x="1005840" y="3291840"/>
            <a:ext cx="4572000" cy="54864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 IT 실용서 및 AI 활용서 대다수 포함</a:t>
            </a:r>
            <a:endParaRPr lang="en-US" sz="1200" dirty="0"/>
          </a:p>
        </p:txBody>
      </p:sp>
      <p:sp>
        <p:nvSpPr>
          <p:cNvPr id="14" name="Text 12"/>
          <p:cNvSpPr/>
          <p:nvPr/>
        </p:nvSpPr>
        <p:spPr>
          <a:xfrm>
            <a:off x="1005840" y="3931920"/>
            <a:ext cx="4572000" cy="54864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 정가 2.5만 원 기준 10% 할인 유도</a:t>
            </a:r>
            <a:endParaRPr lang="en-US" sz="1200" dirty="0"/>
          </a:p>
        </p:txBody>
      </p:sp>
      <p:sp>
        <p:nvSpPr>
          <p:cNvPr id="15" name="Shape 13"/>
          <p:cNvSpPr/>
          <p:nvPr/>
        </p:nvSpPr>
        <p:spPr>
          <a:xfrm>
            <a:off x="6126480" y="1463040"/>
            <a:ext cx="5333695" cy="4480560"/>
          </a:xfrm>
          <a:prstGeom prst="roundRect">
            <a:avLst>
              <a:gd name="adj" fmla="val 1633"/>
            </a:avLst>
          </a:prstGeom>
          <a:solidFill>
            <a:srgbClr val="FFFFFF"/>
          </a:solidFill>
          <a:ln w="12700">
            <a:solidFill>
              <a:srgbClr val="E2DACD"/>
            </a:solidFill>
            <a:prstDash val="solid"/>
          </a:ln>
        </p:spPr>
      </p:sp>
      <p:sp>
        <p:nvSpPr>
          <p:cNvPr id="16" name="Text 14"/>
          <p:cNvSpPr/>
          <p:nvPr/>
        </p:nvSpPr>
        <p:spPr>
          <a:xfrm>
            <a:off x="6400800" y="1737360"/>
            <a:ext cx="4754880" cy="365760"/>
          </a:xfrm>
          <a:prstGeom prst="rect">
            <a:avLst/>
          </a:prstGeom>
          <a:noFill/>
          <a:ln/>
        </p:spPr>
        <p:txBody>
          <a:bodyPr wrap="square" rtlCol="0" anchor="ctr"/>
          <a:lstStyle/>
          <a:p>
            <a:pPr indent="0" marL="0">
              <a:buNone/>
            </a:pPr>
            <a:r>
              <a:rPr lang="en-US" sz="1600" b="1" dirty="0">
                <a:solidFill>
                  <a:srgbClr val="3D3530"/>
                </a:solidFill>
                <a:latin typeface="Gmarket Sans Bold" pitchFamily="34" charset="0"/>
                <a:ea typeface="Gmarket Sans Bold" pitchFamily="34" charset="-122"/>
                <a:cs typeface="Gmarket Sans Bold" pitchFamily="34" charset="-120"/>
              </a:rPr>
              <a:t>고가 서적 이상치 (Outlier)</a:t>
            </a:r>
            <a:endParaRPr lang="en-US" sz="1600" dirty="0"/>
          </a:p>
        </p:txBody>
      </p:sp>
      <p:sp>
        <p:nvSpPr>
          <p:cNvPr id="17" name="Text 15"/>
          <p:cNvSpPr/>
          <p:nvPr/>
        </p:nvSpPr>
        <p:spPr>
          <a:xfrm>
            <a:off x="6400800" y="2148840"/>
            <a:ext cx="4754880" cy="365760"/>
          </a:xfrm>
          <a:prstGeom prst="rect">
            <a:avLst/>
          </a:prstGeom>
          <a:noFill/>
          <a:ln/>
        </p:spPr>
        <p:txBody>
          <a:bodyPr wrap="square" rtlCol="0" anchor="ctr"/>
          <a:lstStyle/>
          <a:p>
            <a:pPr indent="0" marL="0">
              <a:buNone/>
            </a:pPr>
            <a:r>
              <a:rPr lang="en-US" sz="1700" b="1" dirty="0">
                <a:solidFill>
                  <a:srgbClr val="7A6C5D"/>
                </a:solidFill>
                <a:latin typeface="Gmarket Sans Bold" pitchFamily="34" charset="0"/>
                <a:ea typeface="Gmarket Sans Bold" pitchFamily="34" charset="-122"/>
                <a:cs typeface="Gmarket Sans Bold" pitchFamily="34" charset="-120"/>
              </a:rPr>
              <a:t>정가 50,000원 ~ 127,100원</a:t>
            </a:r>
            <a:endParaRPr lang="en-US" sz="1700" dirty="0"/>
          </a:p>
        </p:txBody>
      </p:sp>
      <p:sp>
        <p:nvSpPr>
          <p:cNvPr id="18" name="Text 16"/>
          <p:cNvSpPr/>
          <p:nvPr/>
        </p:nvSpPr>
        <p:spPr>
          <a:xfrm>
            <a:off x="6400800" y="2651760"/>
            <a:ext cx="4754880" cy="54864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 전문 수험서, 학술서, 전집류 포함</a:t>
            </a:r>
            <a:endParaRPr lang="en-US" sz="1200" dirty="0"/>
          </a:p>
        </p:txBody>
      </p:sp>
      <p:sp>
        <p:nvSpPr>
          <p:cNvPr id="19" name="Text 17"/>
          <p:cNvSpPr/>
          <p:nvPr/>
        </p:nvSpPr>
        <p:spPr>
          <a:xfrm>
            <a:off x="6400800" y="3291840"/>
            <a:ext cx="4754880" cy="54864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 구매층 한정으로 최고 판매지수 한계</a:t>
            </a:r>
            <a:endParaRPr lang="en-US" sz="1200" dirty="0"/>
          </a:p>
        </p:txBody>
      </p:sp>
      <p:sp>
        <p:nvSpPr>
          <p:cNvPr id="20" name="Text 18"/>
          <p:cNvSpPr/>
          <p:nvPr/>
        </p:nvSpPr>
        <p:spPr>
          <a:xfrm>
            <a:off x="6400800" y="3931920"/>
            <a:ext cx="4754880" cy="548640"/>
          </a:xfrm>
          <a:prstGeom prst="rect">
            <a:avLst/>
          </a:prstGeom>
          <a:noFill/>
          <a:ln/>
        </p:spPr>
        <p:txBody>
          <a:bodyPr wrap="square" rtlCol="0" anchor="ctr"/>
          <a:lstStyle/>
          <a:p>
            <a:pPr indent="0" marL="0">
              <a:buNone/>
            </a:pPr>
            <a:r>
              <a:rPr lang="en-US" sz="1200" dirty="0">
                <a:solidFill>
                  <a:srgbClr val="3D3530"/>
                </a:solidFill>
                <a:latin typeface="NanumGothic" pitchFamily="34" charset="0"/>
                <a:ea typeface="NanumGothic" pitchFamily="34" charset="-122"/>
                <a:cs typeface="NanumGothic" pitchFamily="34" charset="-120"/>
              </a:rPr>
              <a:t>• 권당 단가가 높아 매출액(Revenue) 기여</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3.3 [Chart 3] 도서 할인율 빈도 분포 (Univariate)</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3_discount_rate_dist.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88720"/>
                <a:gridCol w="1188720"/>
                <a:gridCol w="2133295"/>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할인율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도서 수 (Count)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비율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10% 할인</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864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86.4 %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 할인</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24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2.4 %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 할인</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0.1 %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0% (무할인)</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111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11.1 %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할인율 빈도 분석 결과 88.9%에 달하는 도서가 정확히 10% 할인율을 적용받고 있습니다. 10% 할인은 베스트셀러 진입의 디폴트 수단으로 고착화되었으므로 비가격적 마케팅 혜택이 핵심 차별화 요소입니다.</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3.3 [Chart 3] 도서정가제 하 3대 비가격 마케팅 축</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10728655" cy="1325880"/>
          </a:xfrm>
          <a:prstGeom prst="roundRect">
            <a:avLst>
              <a:gd name="adj" fmla="val 5517"/>
            </a:avLst>
          </a:prstGeom>
          <a:solidFill>
            <a:srgbClr val="FFFFFF"/>
          </a:solidFill>
          <a:ln w="12700">
            <a:solidFill>
              <a:srgbClr val="E2DACD"/>
            </a:solidFill>
            <a:prstDash val="solid"/>
          </a:ln>
        </p:spPr>
      </p:sp>
      <p:sp>
        <p:nvSpPr>
          <p:cNvPr id="10" name="Text 8"/>
          <p:cNvSpPr/>
          <p:nvPr/>
        </p:nvSpPr>
        <p:spPr>
          <a:xfrm>
            <a:off x="1005840" y="1691640"/>
            <a:ext cx="4114800" cy="320040"/>
          </a:xfrm>
          <a:prstGeom prst="rect">
            <a:avLst/>
          </a:prstGeom>
          <a:noFill/>
          <a:ln/>
        </p:spPr>
        <p:txBody>
          <a:bodyPr wrap="square" rtlCol="0" anchor="ctr"/>
          <a:lstStyle/>
          <a:p>
            <a:pPr indent="0" marL="0">
              <a:buNone/>
            </a:pPr>
            <a:r>
              <a:rPr lang="en-US" sz="1600" b="1" dirty="0">
                <a:solidFill>
                  <a:srgbClr val="963B2F"/>
                </a:solidFill>
                <a:latin typeface="Gmarket Sans Bold" pitchFamily="34" charset="0"/>
                <a:ea typeface="Gmarket Sans Bold" pitchFamily="34" charset="-122"/>
                <a:cs typeface="Gmarket Sans Bold" pitchFamily="34" charset="-120"/>
              </a:rPr>
              <a:t>1. 독점 굿즈 / 사은품 (Goods)</a:t>
            </a:r>
            <a:endParaRPr lang="en-US" sz="1600" dirty="0"/>
          </a:p>
        </p:txBody>
      </p:sp>
      <p:sp>
        <p:nvSpPr>
          <p:cNvPr id="11" name="Text 9"/>
          <p:cNvSpPr/>
          <p:nvPr/>
        </p:nvSpPr>
        <p:spPr>
          <a:xfrm>
            <a:off x="5029200" y="1691640"/>
            <a:ext cx="6126480" cy="82296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도서 컨셉 연계 독점 굿즈(노트, 데스크용품, AI 프롬프트 카드) 제공</a:t>
            </a:r>
            <a:endParaRPr lang="en-US" sz="1200" dirty="0"/>
          </a:p>
        </p:txBody>
      </p:sp>
      <p:sp>
        <p:nvSpPr>
          <p:cNvPr id="12" name="Shape 10"/>
          <p:cNvSpPr/>
          <p:nvPr/>
        </p:nvSpPr>
        <p:spPr>
          <a:xfrm>
            <a:off x="731520" y="3017520"/>
            <a:ext cx="10728655" cy="1325880"/>
          </a:xfrm>
          <a:prstGeom prst="roundRect">
            <a:avLst>
              <a:gd name="adj" fmla="val 5517"/>
            </a:avLst>
          </a:prstGeom>
          <a:solidFill>
            <a:srgbClr val="FFFFFF"/>
          </a:solidFill>
          <a:ln w="12700">
            <a:solidFill>
              <a:srgbClr val="E2DACD"/>
            </a:solidFill>
            <a:prstDash val="solid"/>
          </a:ln>
        </p:spPr>
      </p:sp>
      <p:sp>
        <p:nvSpPr>
          <p:cNvPr id="13" name="Text 11"/>
          <p:cNvSpPr/>
          <p:nvPr/>
        </p:nvSpPr>
        <p:spPr>
          <a:xfrm>
            <a:off x="1005840" y="3246120"/>
            <a:ext cx="4114800" cy="320040"/>
          </a:xfrm>
          <a:prstGeom prst="rect">
            <a:avLst/>
          </a:prstGeom>
          <a:noFill/>
          <a:ln/>
        </p:spPr>
        <p:txBody>
          <a:bodyPr wrap="square" rtlCol="0" anchor="ctr"/>
          <a:lstStyle/>
          <a:p>
            <a:pPr indent="0" marL="0">
              <a:buNone/>
            </a:pPr>
            <a:r>
              <a:rPr lang="en-US" sz="1600" b="1" dirty="0">
                <a:solidFill>
                  <a:srgbClr val="963B2F"/>
                </a:solidFill>
                <a:latin typeface="Gmarket Sans Bold" pitchFamily="34" charset="0"/>
                <a:ea typeface="Gmarket Sans Bold" pitchFamily="34" charset="-122"/>
                <a:cs typeface="Gmarket Sans Bold" pitchFamily="34" charset="-120"/>
              </a:rPr>
              <a:t>2. 마일리지 &amp; 포인트 (Loyalty)</a:t>
            </a:r>
            <a:endParaRPr lang="en-US" sz="1600" dirty="0"/>
          </a:p>
        </p:txBody>
      </p:sp>
      <p:sp>
        <p:nvSpPr>
          <p:cNvPr id="14" name="Text 12"/>
          <p:cNvSpPr/>
          <p:nvPr/>
        </p:nvSpPr>
        <p:spPr>
          <a:xfrm>
            <a:off x="5029200" y="3246120"/>
            <a:ext cx="6126480" cy="82296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유통 플랫폼 마일리지 추가 적립(최대 5%)으로 결제 혜택 극대화</a:t>
            </a:r>
            <a:endParaRPr lang="en-US" sz="1200" dirty="0"/>
          </a:p>
        </p:txBody>
      </p:sp>
      <p:sp>
        <p:nvSpPr>
          <p:cNvPr id="15" name="Shape 13"/>
          <p:cNvSpPr/>
          <p:nvPr/>
        </p:nvSpPr>
        <p:spPr>
          <a:xfrm>
            <a:off x="731520" y="4572000"/>
            <a:ext cx="10728655" cy="1325880"/>
          </a:xfrm>
          <a:prstGeom prst="roundRect">
            <a:avLst>
              <a:gd name="adj" fmla="val 5517"/>
            </a:avLst>
          </a:prstGeom>
          <a:solidFill>
            <a:srgbClr val="FFFFFF"/>
          </a:solidFill>
          <a:ln w="12700">
            <a:solidFill>
              <a:srgbClr val="E2DACD"/>
            </a:solidFill>
            <a:prstDash val="solid"/>
          </a:ln>
        </p:spPr>
      </p:sp>
      <p:sp>
        <p:nvSpPr>
          <p:cNvPr id="16" name="Text 14"/>
          <p:cNvSpPr/>
          <p:nvPr/>
        </p:nvSpPr>
        <p:spPr>
          <a:xfrm>
            <a:off x="1005840" y="4800600"/>
            <a:ext cx="4114800" cy="320040"/>
          </a:xfrm>
          <a:prstGeom prst="rect">
            <a:avLst/>
          </a:prstGeom>
          <a:noFill/>
          <a:ln/>
        </p:spPr>
        <p:txBody>
          <a:bodyPr wrap="square" rtlCol="0" anchor="ctr"/>
          <a:lstStyle/>
          <a:p>
            <a:pPr indent="0" marL="0">
              <a:buNone/>
            </a:pPr>
            <a:r>
              <a:rPr lang="en-US" sz="1600" b="1" dirty="0">
                <a:solidFill>
                  <a:srgbClr val="963B2F"/>
                </a:solidFill>
                <a:latin typeface="Gmarket Sans Bold" pitchFamily="34" charset="0"/>
                <a:ea typeface="Gmarket Sans Bold" pitchFamily="34" charset="-122"/>
                <a:cs typeface="Gmarket Sans Bold" pitchFamily="34" charset="-120"/>
              </a:rPr>
              <a:t>3. 저자 팬덤 콘텐츠 (Exclusive)</a:t>
            </a:r>
            <a:endParaRPr lang="en-US" sz="1600" dirty="0"/>
          </a:p>
        </p:txBody>
      </p:sp>
      <p:sp>
        <p:nvSpPr>
          <p:cNvPr id="17" name="Text 15"/>
          <p:cNvSpPr/>
          <p:nvPr/>
        </p:nvSpPr>
        <p:spPr>
          <a:xfrm>
            <a:off x="5029200" y="4800600"/>
            <a:ext cx="6126480" cy="82296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저자 친필 사인본, VOD 강좌 쿠폰, 독점 부록 PDF 연계</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3.4 [Chart 4] 베스트셀러 출판사 상위 30개 (Categorical)</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4_top30_publishers.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27684"/>
                <a:gridCol w="1127684"/>
                <a:gridCol w="1127684"/>
                <a:gridCol w="1127684"/>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순위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출판사명</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베스트셀러 권수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점유율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한빛미디어</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149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14.9 %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길벗</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79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7.9 %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이지스퍼블리싱</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55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5.5 %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4위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골든래빗</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50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5.0 %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제이펍</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48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4.8 %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6위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영진닷컴</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38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3.8 %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상위 10개 출판사가 베스트셀러의 52.9%를 과점하고 있습니다. IT 및 전문서적 브랜드들의 탄탄한 기획력이 시장을 선도하고 있습니다.</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3.4 [Chart 4] 대형 전문 출판사 4대 핵심 성공 패턴</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5150815" cy="2011680"/>
          </a:xfrm>
          <a:prstGeom prst="roundRect">
            <a:avLst>
              <a:gd name="adj" fmla="val 3636"/>
            </a:avLst>
          </a:prstGeom>
          <a:solidFill>
            <a:srgbClr val="FFFFFF"/>
          </a:solidFill>
          <a:ln w="12700">
            <a:solidFill>
              <a:srgbClr val="E2DACD"/>
            </a:solidFill>
            <a:prstDash val="solid"/>
          </a:ln>
        </p:spPr>
      </p:sp>
      <p:sp>
        <p:nvSpPr>
          <p:cNvPr id="10" name="Text 8"/>
          <p:cNvSpPr/>
          <p:nvPr/>
        </p:nvSpPr>
        <p:spPr>
          <a:xfrm>
            <a:off x="1005840" y="1737360"/>
            <a:ext cx="4572000" cy="365760"/>
          </a:xfrm>
          <a:prstGeom prst="rect">
            <a:avLst/>
          </a:prstGeom>
          <a:noFill/>
          <a:ln/>
        </p:spPr>
        <p:txBody>
          <a:bodyPr wrap="square" rtlCol="0" anchor="ctr"/>
          <a:lstStyle/>
          <a:p>
            <a:pPr indent="0" marL="0">
              <a:buNone/>
            </a:pPr>
            <a:r>
              <a:rPr lang="en-US" sz="1600" b="1" dirty="0">
                <a:solidFill>
                  <a:srgbClr val="B85042"/>
                </a:solidFill>
                <a:latin typeface="Gmarket Sans Bold" pitchFamily="34" charset="0"/>
                <a:ea typeface="Gmarket Sans Bold" pitchFamily="34" charset="-122"/>
                <a:cs typeface="Gmarket Sans Bold" pitchFamily="34" charset="-120"/>
              </a:rPr>
              <a:t>1. 브랜드 시리즈 구축</a:t>
            </a:r>
            <a:endParaRPr lang="en-US" sz="1600" dirty="0"/>
          </a:p>
        </p:txBody>
      </p:sp>
      <p:sp>
        <p:nvSpPr>
          <p:cNvPr id="11" name="Text 9"/>
          <p:cNvSpPr/>
          <p:nvPr/>
        </p:nvSpPr>
        <p:spPr>
          <a:xfrm>
            <a:off x="1005840" y="2194560"/>
            <a:ext cx="4572000" cy="100584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'혼자 공부하는~', 'Do it!~' 등 시그니처 입문서 브랜드 시리즈 구축</a:t>
            </a:r>
            <a:endParaRPr lang="en-US" sz="1200" dirty="0"/>
          </a:p>
        </p:txBody>
      </p:sp>
      <p:sp>
        <p:nvSpPr>
          <p:cNvPr id="12" name="Shape 10"/>
          <p:cNvSpPr/>
          <p:nvPr/>
        </p:nvSpPr>
        <p:spPr>
          <a:xfrm>
            <a:off x="6126480" y="1463040"/>
            <a:ext cx="5150815" cy="2011680"/>
          </a:xfrm>
          <a:prstGeom prst="roundRect">
            <a:avLst>
              <a:gd name="adj" fmla="val 3636"/>
            </a:avLst>
          </a:prstGeom>
          <a:solidFill>
            <a:srgbClr val="FFFFFF"/>
          </a:solidFill>
          <a:ln w="12700">
            <a:solidFill>
              <a:srgbClr val="E2DACD"/>
            </a:solidFill>
            <a:prstDash val="solid"/>
          </a:ln>
        </p:spPr>
      </p:sp>
      <p:sp>
        <p:nvSpPr>
          <p:cNvPr id="13" name="Text 11"/>
          <p:cNvSpPr/>
          <p:nvPr/>
        </p:nvSpPr>
        <p:spPr>
          <a:xfrm>
            <a:off x="6400800" y="1737360"/>
            <a:ext cx="4572000" cy="365760"/>
          </a:xfrm>
          <a:prstGeom prst="rect">
            <a:avLst/>
          </a:prstGeom>
          <a:noFill/>
          <a:ln/>
        </p:spPr>
        <p:txBody>
          <a:bodyPr wrap="square" rtlCol="0" anchor="ctr"/>
          <a:lstStyle/>
          <a:p>
            <a:pPr indent="0" marL="0">
              <a:buNone/>
            </a:pPr>
            <a:r>
              <a:rPr lang="en-US" sz="1600" b="1" dirty="0">
                <a:solidFill>
                  <a:srgbClr val="B85042"/>
                </a:solidFill>
                <a:latin typeface="Gmarket Sans Bold" pitchFamily="34" charset="0"/>
                <a:ea typeface="Gmarket Sans Bold" pitchFamily="34" charset="-122"/>
                <a:cs typeface="Gmarket Sans Bold" pitchFamily="34" charset="-120"/>
              </a:rPr>
              <a:t>2. 트렌드 키워드 빠른 선점</a:t>
            </a:r>
            <a:endParaRPr lang="en-US" sz="1600" dirty="0"/>
          </a:p>
        </p:txBody>
      </p:sp>
      <p:sp>
        <p:nvSpPr>
          <p:cNvPr id="14" name="Text 12"/>
          <p:cNvSpPr/>
          <p:nvPr/>
        </p:nvSpPr>
        <p:spPr>
          <a:xfrm>
            <a:off x="6400800" y="2194560"/>
            <a:ext cx="4572000" cy="100584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생성형 AI, 클로드 코드 등 기술 변곡점 발생 시 수개월 내 출간</a:t>
            </a:r>
            <a:endParaRPr lang="en-US" sz="1200" dirty="0"/>
          </a:p>
        </p:txBody>
      </p:sp>
      <p:sp>
        <p:nvSpPr>
          <p:cNvPr id="15" name="Shape 13"/>
          <p:cNvSpPr/>
          <p:nvPr/>
        </p:nvSpPr>
        <p:spPr>
          <a:xfrm>
            <a:off x="731520" y="3749040"/>
            <a:ext cx="5150815" cy="2011680"/>
          </a:xfrm>
          <a:prstGeom prst="roundRect">
            <a:avLst>
              <a:gd name="adj" fmla="val 3636"/>
            </a:avLst>
          </a:prstGeom>
          <a:solidFill>
            <a:srgbClr val="FFFFFF"/>
          </a:solidFill>
          <a:ln w="12700">
            <a:solidFill>
              <a:srgbClr val="E2DACD"/>
            </a:solidFill>
            <a:prstDash val="solid"/>
          </a:ln>
        </p:spPr>
      </p:sp>
      <p:sp>
        <p:nvSpPr>
          <p:cNvPr id="16" name="Text 14"/>
          <p:cNvSpPr/>
          <p:nvPr/>
        </p:nvSpPr>
        <p:spPr>
          <a:xfrm>
            <a:off x="1005840" y="4023360"/>
            <a:ext cx="4572000" cy="365760"/>
          </a:xfrm>
          <a:prstGeom prst="rect">
            <a:avLst/>
          </a:prstGeom>
          <a:noFill/>
          <a:ln/>
        </p:spPr>
        <p:txBody>
          <a:bodyPr wrap="square" rtlCol="0" anchor="ctr"/>
          <a:lstStyle/>
          <a:p>
            <a:pPr indent="0" marL="0">
              <a:buNone/>
            </a:pPr>
            <a:r>
              <a:rPr lang="en-US" sz="1600" b="1" dirty="0">
                <a:solidFill>
                  <a:srgbClr val="B85042"/>
                </a:solidFill>
                <a:latin typeface="Gmarket Sans Bold" pitchFamily="34" charset="0"/>
                <a:ea typeface="Gmarket Sans Bold" pitchFamily="34" charset="-122"/>
                <a:cs typeface="Gmarket Sans Bold" pitchFamily="34" charset="-120"/>
              </a:rPr>
              <a:t>3. 탄탄한 저자 네트워크</a:t>
            </a:r>
            <a:endParaRPr lang="en-US" sz="1600" dirty="0"/>
          </a:p>
        </p:txBody>
      </p:sp>
      <p:sp>
        <p:nvSpPr>
          <p:cNvPr id="17" name="Text 15"/>
          <p:cNvSpPr/>
          <p:nvPr/>
        </p:nvSpPr>
        <p:spPr>
          <a:xfrm>
            <a:off x="1005840" y="4480560"/>
            <a:ext cx="4572000" cy="100584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검증된 전문 저자진 및 커뮤니티 네트워킹을 통한 원고 수급</a:t>
            </a:r>
            <a:endParaRPr lang="en-US" sz="1200" dirty="0"/>
          </a:p>
        </p:txBody>
      </p:sp>
      <p:sp>
        <p:nvSpPr>
          <p:cNvPr id="18" name="Shape 16"/>
          <p:cNvSpPr/>
          <p:nvPr/>
        </p:nvSpPr>
        <p:spPr>
          <a:xfrm>
            <a:off x="6126480" y="3749040"/>
            <a:ext cx="5150815" cy="2011680"/>
          </a:xfrm>
          <a:prstGeom prst="roundRect">
            <a:avLst>
              <a:gd name="adj" fmla="val 3636"/>
            </a:avLst>
          </a:prstGeom>
          <a:solidFill>
            <a:srgbClr val="FFFFFF"/>
          </a:solidFill>
          <a:ln w="12700">
            <a:solidFill>
              <a:srgbClr val="E2DACD"/>
            </a:solidFill>
            <a:prstDash val="solid"/>
          </a:ln>
        </p:spPr>
      </p:sp>
      <p:sp>
        <p:nvSpPr>
          <p:cNvPr id="19" name="Text 17"/>
          <p:cNvSpPr/>
          <p:nvPr/>
        </p:nvSpPr>
        <p:spPr>
          <a:xfrm>
            <a:off x="6400800" y="4023360"/>
            <a:ext cx="4572000" cy="365760"/>
          </a:xfrm>
          <a:prstGeom prst="rect">
            <a:avLst/>
          </a:prstGeom>
          <a:noFill/>
          <a:ln/>
        </p:spPr>
        <p:txBody>
          <a:bodyPr wrap="square" rtlCol="0" anchor="ctr"/>
          <a:lstStyle/>
          <a:p>
            <a:pPr indent="0" marL="0">
              <a:buNone/>
            </a:pPr>
            <a:r>
              <a:rPr lang="en-US" sz="1600" b="1" dirty="0">
                <a:solidFill>
                  <a:srgbClr val="B85042"/>
                </a:solidFill>
                <a:latin typeface="Gmarket Sans Bold" pitchFamily="34" charset="0"/>
                <a:ea typeface="Gmarket Sans Bold" pitchFamily="34" charset="-122"/>
                <a:cs typeface="Gmarket Sans Bold" pitchFamily="34" charset="-120"/>
              </a:rPr>
              <a:t>4. 초기 마케팅 자본 투입</a:t>
            </a:r>
            <a:endParaRPr lang="en-US" sz="1600" dirty="0"/>
          </a:p>
        </p:txBody>
      </p:sp>
      <p:sp>
        <p:nvSpPr>
          <p:cNvPr id="20" name="Text 18"/>
          <p:cNvSpPr/>
          <p:nvPr/>
        </p:nvSpPr>
        <p:spPr>
          <a:xfrm>
            <a:off x="6400800" y="4480560"/>
            <a:ext cx="4572000" cy="1005840"/>
          </a:xfrm>
          <a:prstGeom prst="rect">
            <a:avLst/>
          </a:prstGeom>
          <a:noFill/>
          <a:ln/>
        </p:spPr>
        <p:txBody>
          <a:bodyPr wrap="square" rtlCol="0" anchor="ctr"/>
          <a:lstStyle/>
          <a:p>
            <a:pPr indent="0" marL="0">
              <a:lnSpc>
                <a:spcPts val="1800"/>
              </a:lnSpc>
              <a:buNone/>
            </a:pPr>
            <a:r>
              <a:rPr lang="en-US" sz="1200" dirty="0">
                <a:solidFill>
                  <a:srgbClr val="7A6C5D"/>
                </a:solidFill>
                <a:latin typeface="NanumGothic" pitchFamily="34" charset="0"/>
                <a:ea typeface="NanumGothic" pitchFamily="34" charset="-122"/>
                <a:cs typeface="NanumGothic" pitchFamily="34" charset="-120"/>
              </a:rPr>
              <a:t>출간 초기 서평단 및 서점 메인 배너 프로모션 집중 투입</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3.5 [Chart 5] 베스트셀러 저자 상위 30명 (Categorical)</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5_top30_authors.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27684"/>
                <a:gridCol w="1127684"/>
                <a:gridCol w="1127684"/>
                <a:gridCol w="1127684"/>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순위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대표저자명</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진입 권수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대표 분야</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Mojang Studio</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16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마인크래프트 게임/코딩</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코리아교육그룹</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IT 자격증/수험서</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박현규</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컴퓨터 입문/실용서</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4위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장문철</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파이썬/챗GPT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서지영</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4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딥러닝/파이토치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1위 Mojang Studio(16권)를 비롯하여 검증된 베스트셀러 저자의 연쇄 흥행 파워 현상이 두드러집니다.</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3.6 [Chart 6] 출판사별 평균 판매지수 상위 15개 (Bivariate)</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6_publisher_avg_sales_index.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27684"/>
                <a:gridCol w="1127684"/>
                <a:gridCol w="1127684"/>
                <a:gridCol w="1127684"/>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출판사명</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출간권수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평균 판매지수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중앙값</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코리아닷컴</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76,152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76,152</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사회평론아카데미</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17,370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17,370</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메가스터디북스</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14,322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14,322</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안경다리BOOKS</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13,662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13,662</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단순 양적 다작보다 시장 적합성(PMF)이 높은 킬러 콘텐츠 한 권 기획의 중요성을 입증합니다.</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3.7 [Chart 7] 도서 정가 vs 판매지수 상관관계 (Bivariate)</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7_price_vs_sales_index.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27684"/>
                <a:gridCol w="1127684"/>
                <a:gridCol w="1127684"/>
                <a:gridCol w="1127684"/>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가격대 구간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도서 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평균 판매지수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중앙값</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1.5만 원 이하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87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632.4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396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1.5만 ~ 2.5만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464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3,343.4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1,353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2.5만 ~ 3.5만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317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3,004.3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1,176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5.0만 원 이상</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16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974.4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513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판매지수 20,000 이상의 메가작은 정가 2.0만~3.0만 원 구간에 집약되어 체감 가격 저항선을 입증합니다.</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3.8 [Chart 8] 도서 평점 vs 리뷰수 분포 (Bivariate Scatter)</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8_rating_vs_reviews.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88720"/>
                <a:gridCol w="1188720"/>
                <a:gridCol w="2133295"/>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평점 구간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평균 리뷰수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평균 판매지수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8.9점 이하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12.83 건</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2,284.9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9.0 ~ 9.4점</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23.17 건</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2,307.6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9.5 ~ 9.8점</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42.73 건</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5,132.7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9.9 ~ 10.0점</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20.00 건</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2,485.0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9.5~9.8점 평점 구간 도서들의 평균 리뷰수가 42.7건으로 가장 높아 자발적 구전 효과(WOM) 선순환을 입증합니다.</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3.9 [Chart 9] 출간연월별 베스트셀러 추이 (Time Series)</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09_pub_date_trend.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88720"/>
                <a:gridCol w="1188720"/>
                <a:gridCol w="2133295"/>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출간연월</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등록 권수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비중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2026년 07월</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87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8.7 % (피크)</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2026년 06월</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60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6.0 %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2026년 05월</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51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5.1 %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2026년 03월</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51 권</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5.1 %</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2026년 5~7월 신간이 목록의 대부분을 차지하여 신간 1~3개월 집중 마케팅의 중요성을 입증합니다.</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3.10 [Chart 10] 수치형 변수 상관관계 히트맵 (Correlation)</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10_correlation_heatmap.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88720"/>
                <a:gridCol w="1188720"/>
                <a:gridCol w="2133295"/>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변수쌍</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상관계수(r)</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비즈니스 의미</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정가 ↔ 판매가</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r = +0.99</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10% 정률 할인의 완벽한 선형성</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판매지수 ↔ 리뷰수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r = +0.45</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리뷰 작성이 판매량 확대에 유의미 기여</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정가 ↔ 평점</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r = -0.07</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가격 수준과 독자 만족도는 무관</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판매지수와 리뷰수 간 +0.45 상관관계는 리뷰 확보가 실질 판매량을 증대시키는 직접적 동력임을 입증합니다.</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3.11 [Chart 11] 도서명 TF-IDF 중요 키워드 Top 30</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pic>
        <p:nvPicPr>
          <p:cNvPr id="9" name="Image 0" descr="C:\Proj\Anti\yes24\images\11_tfidf_top30_keywords.png">    </p:cNvPr>
          <p:cNvPicPr>
            <a:picLocks noChangeAspect="1"/>
          </p:cNvPicPr>
          <p:nvPr/>
        </p:nvPicPr>
        <p:blipFill>
          <a:blip r:embed="rId1"/>
          <a:stretch>
            <a:fillRect/>
          </a:stretch>
        </p:blipFill>
        <p:spPr>
          <a:xfrm>
            <a:off x="731520" y="1463040"/>
            <a:ext cx="5669280" cy="4480560"/>
          </a:xfrm>
          <a:prstGeom prst="rect">
            <a:avLst/>
          </a:prstGeom>
        </p:spPr>
      </p:pic>
      <p:sp>
        <p:nvSpPr>
          <p:cNvPr id="10" name="Shape 7"/>
          <p:cNvSpPr/>
          <p:nvPr/>
        </p:nvSpPr>
        <p:spPr>
          <a:xfrm>
            <a:off x="6583680" y="1463040"/>
            <a:ext cx="4876495" cy="4480560"/>
          </a:xfrm>
          <a:prstGeom prst="roundRect">
            <a:avLst>
              <a:gd name="adj" fmla="val 1633"/>
            </a:avLst>
          </a:prstGeom>
          <a:solidFill>
            <a:srgbClr val="FFFFFF"/>
          </a:solidFill>
          <a:ln w="12700">
            <a:solidFill>
              <a:srgbClr val="E2DACD"/>
            </a:solidFill>
            <a:prstDash val="solid"/>
          </a:ln>
        </p:spPr>
      </p:sp>
      <p:sp>
        <p:nvSpPr>
          <p:cNvPr id="11" name="Text 8"/>
          <p:cNvSpPr/>
          <p:nvPr/>
        </p:nvSpPr>
        <p:spPr>
          <a:xfrm>
            <a:off x="6766560" y="1645920"/>
            <a:ext cx="4480560" cy="274320"/>
          </a:xfrm>
          <a:prstGeom prst="rect">
            <a:avLst/>
          </a:prstGeom>
          <a:noFill/>
          <a:ln/>
        </p:spPr>
        <p:txBody>
          <a:bodyPr wrap="square" rtlCol="0" anchor="ctr"/>
          <a:lstStyle/>
          <a:p>
            <a:pPr indent="0" marL="0">
              <a:buNone/>
            </a:pPr>
            <a:r>
              <a:rPr lang="en-US" sz="1400" b="1" dirty="0">
                <a:solidFill>
                  <a:srgbClr val="3D3530"/>
                </a:solidFill>
                <a:latin typeface="Gmarket Sans Bold" pitchFamily="34" charset="0"/>
                <a:ea typeface="Gmarket Sans Bold" pitchFamily="34" charset="-122"/>
                <a:cs typeface="Gmarket Sans Bold" pitchFamily="34" charset="-120"/>
              </a:rPr>
              <a:t>연동 요약 통계</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510735" cy="914400"/>
        </p:xfrm>
        <a:graphic>
          <a:graphicData uri="http://schemas.openxmlformats.org/drawingml/2006/table">
            <a:tbl>
              <a:tblPr/>
              <a:tblGrid>
                <a:gridCol w="1127684"/>
                <a:gridCol w="1127684"/>
                <a:gridCol w="1127684"/>
                <a:gridCol w="1127684"/>
              </a:tblGrid>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순위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키워드</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TF-IDF 점수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트렌드 분류</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AI</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109.19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생성형 AI (독보적 1위)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2위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위한</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58.06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수요 타깃 지향</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배우는</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39.44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입문/학습 서적</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4위</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가이드</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33.58 pt</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50" dirty="0">
                          <a:solidFill>
                            <a:srgbClr val="3D3530"/>
                          </a:solidFill>
                          <a:latin typeface="NanumGothic" pitchFamily="34" charset="0"/>
                          <a:ea typeface="NanumGothic" pitchFamily="34" charset="-122"/>
                          <a:cs typeface="NanumGothic" pitchFamily="34" charset="-120"/>
                        </a:rPr>
                        <a:t>실무 가이드북</a:t>
                      </a:r>
                      <a:endParaRPr lang="en-US" sz="850" dirty="0">
                        <a:latin typeface="NanumGothic" charset="0"/>
                        <a:ea typeface="NanumGothic" charset="0"/>
                        <a:cs typeface="NanumGothic"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3" name="Text 9"/>
          <p:cNvSpPr/>
          <p:nvPr/>
        </p:nvSpPr>
        <p:spPr>
          <a:xfrm>
            <a:off x="6766560" y="3474720"/>
            <a:ext cx="4480560" cy="274320"/>
          </a:xfrm>
          <a:prstGeom prst="rect">
            <a:avLst/>
          </a:prstGeom>
          <a:noFill/>
          <a:ln/>
        </p:spPr>
        <p:txBody>
          <a:bodyPr wrap="square" rtlCol="0" anchor="ctr"/>
          <a:lstStyle/>
          <a:p>
            <a:pPr indent="0" marL="0">
              <a:buNone/>
            </a:pPr>
            <a:r>
              <a:rPr lang="en-US" sz="1400" b="1" dirty="0">
                <a:solidFill>
                  <a:srgbClr val="B85042"/>
                </a:solidFill>
                <a:latin typeface="Gmarket Sans Bold" pitchFamily="34" charset="0"/>
                <a:ea typeface="Gmarket Sans Bold" pitchFamily="34" charset="-122"/>
                <a:cs typeface="Gmarket Sans Bold" pitchFamily="34" charset="-120"/>
              </a:rPr>
              <a:t>비즈니스 인사이트 및 해석</a:t>
            </a:r>
            <a:endParaRPr lang="en-US" sz="1400" dirty="0"/>
          </a:p>
        </p:txBody>
      </p:sp>
      <p:sp>
        <p:nvSpPr>
          <p:cNvPr id="14" name="Text 10"/>
          <p:cNvSpPr/>
          <p:nvPr/>
        </p:nvSpPr>
        <p:spPr>
          <a:xfrm>
            <a:off x="6766560" y="3794760"/>
            <a:ext cx="4510735" cy="2011680"/>
          </a:xfrm>
          <a:prstGeom prst="rect">
            <a:avLst/>
          </a:prstGeom>
          <a:noFill/>
          <a:ln/>
        </p:spPr>
        <p:txBody>
          <a:bodyPr wrap="square" rtlCol="0" anchor="ctr"/>
          <a:lstStyle/>
          <a:p>
            <a:pPr indent="0" marL="0">
              <a:lnSpc>
                <a:spcPts val="1600"/>
              </a:lnSpc>
              <a:buNone/>
            </a:pPr>
            <a:r>
              <a:rPr lang="en-US" sz="1100" dirty="0">
                <a:solidFill>
                  <a:srgbClr val="3D3530"/>
                </a:solidFill>
                <a:latin typeface="NanumGothic" pitchFamily="34" charset="0"/>
                <a:ea typeface="NanumGothic" pitchFamily="34" charset="-122"/>
                <a:cs typeface="NanumGothic" pitchFamily="34" charset="-120"/>
              </a:rPr>
              <a:t>AI(109.19점) 키워드가 압도적 1위를 기록하며 인공지능 트렌드가 2026 도서 시장을 완벽 장악함을 입증합니다.</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3.11 [Chart 11] 2026 생성형 AI 키워드 4대 테마</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5150815" cy="2011680"/>
          </a:xfrm>
          <a:prstGeom prst="roundRect">
            <a:avLst>
              <a:gd name="adj" fmla="val 3636"/>
            </a:avLst>
          </a:prstGeom>
          <a:solidFill>
            <a:srgbClr val="FFFFFF"/>
          </a:solidFill>
          <a:ln w="12700">
            <a:solidFill>
              <a:srgbClr val="E2DACD"/>
            </a:solidFill>
            <a:prstDash val="solid"/>
          </a:ln>
        </p:spPr>
      </p:sp>
      <p:pic>
        <p:nvPicPr>
          <p:cNvPr id="10" name="Image 0" descr="preencoded.png">    </p:cNvPr>
          <p:cNvPicPr>
            <a:picLocks noChangeAspect="1"/>
          </p:cNvPicPr>
          <p:nvPr/>
        </p:nvPicPr>
        <p:blipFill>
          <a:blip r:embed="rId1"/>
          <a:stretch>
            <a:fillRect/>
          </a:stretch>
        </p:blipFill>
        <p:spPr>
          <a:xfrm>
            <a:off x="1005840" y="1691640"/>
            <a:ext cx="411480" cy="411480"/>
          </a:xfrm>
          <a:prstGeom prst="rect">
            <a:avLst/>
          </a:prstGeom>
        </p:spPr>
      </p:pic>
      <p:sp>
        <p:nvSpPr>
          <p:cNvPr id="11" name="Text 8"/>
          <p:cNvSpPr/>
          <p:nvPr/>
        </p:nvSpPr>
        <p:spPr>
          <a:xfrm>
            <a:off x="1508760" y="1691640"/>
            <a:ext cx="41148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1. AI 에이전트 &amp; 자동화</a:t>
            </a:r>
            <a:endParaRPr lang="en-US" sz="1500" dirty="0"/>
          </a:p>
        </p:txBody>
      </p:sp>
      <p:sp>
        <p:nvSpPr>
          <p:cNvPr id="12" name="Text 9"/>
          <p:cNvSpPr/>
          <p:nvPr/>
        </p:nvSpPr>
        <p:spPr>
          <a:xfrm>
            <a:off x="1005840" y="2103120"/>
            <a:ext cx="4572000" cy="274320"/>
          </a:xfrm>
          <a:prstGeom prst="rect">
            <a:avLst/>
          </a:prstGeom>
          <a:noFill/>
          <a:ln/>
        </p:spPr>
        <p:txBody>
          <a:bodyPr wrap="square" rtlCol="0" anchor="ctr"/>
          <a:lstStyle/>
          <a:p>
            <a:pPr indent="0" marL="0">
              <a:buNone/>
            </a:pPr>
            <a:r>
              <a:rPr lang="en-US" sz="1100" b="1" dirty="0">
                <a:solidFill>
                  <a:srgbClr val="B85042"/>
                </a:solidFill>
                <a:latin typeface="NanumGothic" pitchFamily="34" charset="0"/>
                <a:ea typeface="NanumGothic" pitchFamily="34" charset="-122"/>
                <a:cs typeface="NanumGothic" pitchFamily="34" charset="-120"/>
              </a:rPr>
              <a:t>핵심키워드: AI, 에이전트, 코워크, 클로드 코드</a:t>
            </a:r>
            <a:endParaRPr lang="en-US" sz="1100" dirty="0"/>
          </a:p>
        </p:txBody>
      </p:sp>
      <p:sp>
        <p:nvSpPr>
          <p:cNvPr id="13" name="Text 10"/>
          <p:cNvSpPr/>
          <p:nvPr/>
        </p:nvSpPr>
        <p:spPr>
          <a:xfrm>
            <a:off x="1005840" y="2423160"/>
            <a:ext cx="4572000" cy="914400"/>
          </a:xfrm>
          <a:prstGeom prst="rect">
            <a:avLst/>
          </a:prstGeom>
          <a:noFill/>
          <a:ln/>
        </p:spPr>
        <p:txBody>
          <a:bodyPr wrap="square" rtlCol="0" anchor="ctr"/>
          <a:lstStyle/>
          <a:p>
            <a:pPr indent="0" marL="0">
              <a:lnSpc>
                <a:spcPts val="1700"/>
              </a:lnSpc>
              <a:buNone/>
            </a:pPr>
            <a:r>
              <a:rPr lang="en-US" sz="1200" dirty="0">
                <a:solidFill>
                  <a:srgbClr val="7A6C5D"/>
                </a:solidFill>
                <a:latin typeface="NanumGothic" pitchFamily="34" charset="0"/>
                <a:ea typeface="NanumGothic" pitchFamily="34" charset="-122"/>
                <a:cs typeface="NanumGothic" pitchFamily="34" charset="-120"/>
              </a:rPr>
              <a:t>스스로 판단하고 코드를 작성하여 업무를 수행하는 AI 에이전트 서적의 부상</a:t>
            </a:r>
            <a:endParaRPr lang="en-US" sz="1200" dirty="0"/>
          </a:p>
        </p:txBody>
      </p:sp>
      <p:sp>
        <p:nvSpPr>
          <p:cNvPr id="14" name="Shape 11"/>
          <p:cNvSpPr/>
          <p:nvPr/>
        </p:nvSpPr>
        <p:spPr>
          <a:xfrm>
            <a:off x="6126480" y="1463040"/>
            <a:ext cx="5150815" cy="2011680"/>
          </a:xfrm>
          <a:prstGeom prst="roundRect">
            <a:avLst>
              <a:gd name="adj" fmla="val 3636"/>
            </a:avLst>
          </a:prstGeom>
          <a:solidFill>
            <a:srgbClr val="FFFFFF"/>
          </a:solidFill>
          <a:ln w="12700">
            <a:solidFill>
              <a:srgbClr val="E2DACD"/>
            </a:solidFill>
            <a:prstDash val="solid"/>
          </a:ln>
        </p:spPr>
      </p:sp>
      <p:pic>
        <p:nvPicPr>
          <p:cNvPr id="15" name="Image 1" descr="preencoded.png">    </p:cNvPr>
          <p:cNvPicPr>
            <a:picLocks noChangeAspect="1"/>
          </p:cNvPicPr>
          <p:nvPr/>
        </p:nvPicPr>
        <p:blipFill>
          <a:blip r:embed="rId2"/>
          <a:stretch>
            <a:fillRect/>
          </a:stretch>
        </p:blipFill>
        <p:spPr>
          <a:xfrm>
            <a:off x="6400800" y="1691640"/>
            <a:ext cx="411480" cy="411480"/>
          </a:xfrm>
          <a:prstGeom prst="rect">
            <a:avLst/>
          </a:prstGeom>
        </p:spPr>
      </p:pic>
      <p:sp>
        <p:nvSpPr>
          <p:cNvPr id="16" name="Text 12"/>
          <p:cNvSpPr/>
          <p:nvPr/>
        </p:nvSpPr>
        <p:spPr>
          <a:xfrm>
            <a:off x="6903720" y="1691640"/>
            <a:ext cx="41148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2. 프롬프트 엔지니어링</a:t>
            </a:r>
            <a:endParaRPr lang="en-US" sz="1500" dirty="0"/>
          </a:p>
        </p:txBody>
      </p:sp>
      <p:sp>
        <p:nvSpPr>
          <p:cNvPr id="17" name="Text 13"/>
          <p:cNvSpPr/>
          <p:nvPr/>
        </p:nvSpPr>
        <p:spPr>
          <a:xfrm>
            <a:off x="6400800" y="2103120"/>
            <a:ext cx="4572000" cy="274320"/>
          </a:xfrm>
          <a:prstGeom prst="rect">
            <a:avLst/>
          </a:prstGeom>
          <a:noFill/>
          <a:ln/>
        </p:spPr>
        <p:txBody>
          <a:bodyPr wrap="square" rtlCol="0" anchor="ctr"/>
          <a:lstStyle/>
          <a:p>
            <a:pPr indent="0" marL="0">
              <a:buNone/>
            </a:pPr>
            <a:r>
              <a:rPr lang="en-US" sz="1100" b="1" dirty="0">
                <a:solidFill>
                  <a:srgbClr val="B85042"/>
                </a:solidFill>
                <a:latin typeface="NanumGothic" pitchFamily="34" charset="0"/>
                <a:ea typeface="NanumGothic" pitchFamily="34" charset="-122"/>
                <a:cs typeface="NanumGothic" pitchFamily="34" charset="-120"/>
              </a:rPr>
              <a:t>핵심키워드: 챗GPT, 클로드, 제미나이, 활용법</a:t>
            </a:r>
            <a:endParaRPr lang="en-US" sz="1100" dirty="0"/>
          </a:p>
        </p:txBody>
      </p:sp>
      <p:sp>
        <p:nvSpPr>
          <p:cNvPr id="18" name="Text 14"/>
          <p:cNvSpPr/>
          <p:nvPr/>
        </p:nvSpPr>
        <p:spPr>
          <a:xfrm>
            <a:off x="6400800" y="2423160"/>
            <a:ext cx="4572000" cy="914400"/>
          </a:xfrm>
          <a:prstGeom prst="rect">
            <a:avLst/>
          </a:prstGeom>
          <a:noFill/>
          <a:ln/>
        </p:spPr>
        <p:txBody>
          <a:bodyPr wrap="square" rtlCol="0" anchor="ctr"/>
          <a:lstStyle/>
          <a:p>
            <a:pPr indent="0" marL="0">
              <a:lnSpc>
                <a:spcPts val="1700"/>
              </a:lnSpc>
              <a:buNone/>
            </a:pPr>
            <a:r>
              <a:rPr lang="en-US" sz="1200" dirty="0">
                <a:solidFill>
                  <a:srgbClr val="7A6C5D"/>
                </a:solidFill>
                <a:latin typeface="NanumGothic" pitchFamily="34" charset="0"/>
                <a:ea typeface="NanumGothic" pitchFamily="34" charset="-122"/>
                <a:cs typeface="NanumGothic" pitchFamily="34" charset="-120"/>
              </a:rPr>
              <a:t>챗GPT, 클로드 등 3대 LLM 활용 꿀팁 및 프롬프트 작성 실무서 고속 성장</a:t>
            </a:r>
            <a:endParaRPr lang="en-US" sz="1200" dirty="0"/>
          </a:p>
        </p:txBody>
      </p:sp>
      <p:sp>
        <p:nvSpPr>
          <p:cNvPr id="19" name="Shape 15"/>
          <p:cNvSpPr/>
          <p:nvPr/>
        </p:nvSpPr>
        <p:spPr>
          <a:xfrm>
            <a:off x="731520" y="3749040"/>
            <a:ext cx="5150815" cy="2011680"/>
          </a:xfrm>
          <a:prstGeom prst="roundRect">
            <a:avLst>
              <a:gd name="adj" fmla="val 3636"/>
            </a:avLst>
          </a:prstGeom>
          <a:solidFill>
            <a:srgbClr val="FFFFFF"/>
          </a:solidFill>
          <a:ln w="12700">
            <a:solidFill>
              <a:srgbClr val="E2DACD"/>
            </a:solidFill>
            <a:prstDash val="solid"/>
          </a:ln>
        </p:spPr>
      </p:sp>
      <p:pic>
        <p:nvPicPr>
          <p:cNvPr id="20" name="Image 2" descr="preencoded.png">    </p:cNvPr>
          <p:cNvPicPr>
            <a:picLocks noChangeAspect="1"/>
          </p:cNvPicPr>
          <p:nvPr/>
        </p:nvPicPr>
        <p:blipFill>
          <a:blip r:embed="rId3"/>
          <a:stretch>
            <a:fillRect/>
          </a:stretch>
        </p:blipFill>
        <p:spPr>
          <a:xfrm>
            <a:off x="1005840" y="3977640"/>
            <a:ext cx="411480" cy="411480"/>
          </a:xfrm>
          <a:prstGeom prst="rect">
            <a:avLst/>
          </a:prstGeom>
        </p:spPr>
      </p:pic>
      <p:sp>
        <p:nvSpPr>
          <p:cNvPr id="21" name="Text 16"/>
          <p:cNvSpPr/>
          <p:nvPr/>
        </p:nvSpPr>
        <p:spPr>
          <a:xfrm>
            <a:off x="1508760" y="3977640"/>
            <a:ext cx="41148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3. 바이브 코딩 &amp; 파이썬</a:t>
            </a:r>
            <a:endParaRPr lang="en-US" sz="1500" dirty="0"/>
          </a:p>
        </p:txBody>
      </p:sp>
      <p:sp>
        <p:nvSpPr>
          <p:cNvPr id="22" name="Text 17"/>
          <p:cNvSpPr/>
          <p:nvPr/>
        </p:nvSpPr>
        <p:spPr>
          <a:xfrm>
            <a:off x="1005840" y="4389120"/>
            <a:ext cx="4572000" cy="274320"/>
          </a:xfrm>
          <a:prstGeom prst="rect">
            <a:avLst/>
          </a:prstGeom>
          <a:noFill/>
          <a:ln/>
        </p:spPr>
        <p:txBody>
          <a:bodyPr wrap="square" rtlCol="0" anchor="ctr"/>
          <a:lstStyle/>
          <a:p>
            <a:pPr indent="0" marL="0">
              <a:buNone/>
            </a:pPr>
            <a:r>
              <a:rPr lang="en-US" sz="1100" b="1" dirty="0">
                <a:solidFill>
                  <a:srgbClr val="B85042"/>
                </a:solidFill>
                <a:latin typeface="NanumGothic" pitchFamily="34" charset="0"/>
                <a:ea typeface="NanumGothic" pitchFamily="34" charset="-122"/>
                <a:cs typeface="NanumGothic" pitchFamily="34" charset="-120"/>
              </a:rPr>
              <a:t>핵심키워드: 코딩, 파이썬, 데이터, 백엔드</a:t>
            </a:r>
            <a:endParaRPr lang="en-US" sz="1100" dirty="0"/>
          </a:p>
        </p:txBody>
      </p:sp>
      <p:sp>
        <p:nvSpPr>
          <p:cNvPr id="23" name="Text 18"/>
          <p:cNvSpPr/>
          <p:nvPr/>
        </p:nvSpPr>
        <p:spPr>
          <a:xfrm>
            <a:off x="1005840" y="4709160"/>
            <a:ext cx="4572000" cy="914400"/>
          </a:xfrm>
          <a:prstGeom prst="rect">
            <a:avLst/>
          </a:prstGeom>
          <a:noFill/>
          <a:ln/>
        </p:spPr>
        <p:txBody>
          <a:bodyPr wrap="square" rtlCol="0" anchor="ctr"/>
          <a:lstStyle/>
          <a:p>
            <a:pPr indent="0" marL="0">
              <a:lnSpc>
                <a:spcPts val="1700"/>
              </a:lnSpc>
              <a:buNone/>
            </a:pPr>
            <a:r>
              <a:rPr lang="en-US" sz="1200" dirty="0">
                <a:solidFill>
                  <a:srgbClr val="7A6C5D"/>
                </a:solidFill>
                <a:latin typeface="NanumGothic" pitchFamily="34" charset="0"/>
                <a:ea typeface="NanumGothic" pitchFamily="34" charset="-122"/>
                <a:cs typeface="NanumGothic" pitchFamily="34" charset="-120"/>
              </a:rPr>
              <a:t>비전공자도 AI의 도움으로 앱/웹을 개발하는 바이브 코딩 파이프라인 인기</a:t>
            </a:r>
            <a:endParaRPr lang="en-US" sz="1200" dirty="0"/>
          </a:p>
        </p:txBody>
      </p:sp>
      <p:sp>
        <p:nvSpPr>
          <p:cNvPr id="24" name="Shape 19"/>
          <p:cNvSpPr/>
          <p:nvPr/>
        </p:nvSpPr>
        <p:spPr>
          <a:xfrm>
            <a:off x="6126480" y="3749040"/>
            <a:ext cx="5150815" cy="2011680"/>
          </a:xfrm>
          <a:prstGeom prst="roundRect">
            <a:avLst>
              <a:gd name="adj" fmla="val 3636"/>
            </a:avLst>
          </a:prstGeom>
          <a:solidFill>
            <a:srgbClr val="FFFFFF"/>
          </a:solidFill>
          <a:ln w="12700">
            <a:solidFill>
              <a:srgbClr val="E2DACD"/>
            </a:solidFill>
            <a:prstDash val="solid"/>
          </a:ln>
        </p:spPr>
      </p:sp>
      <p:pic>
        <p:nvPicPr>
          <p:cNvPr id="25" name="Image 3" descr="preencoded.png">    </p:cNvPr>
          <p:cNvPicPr>
            <a:picLocks noChangeAspect="1"/>
          </p:cNvPicPr>
          <p:nvPr/>
        </p:nvPicPr>
        <p:blipFill>
          <a:blip r:embed="rId4"/>
          <a:stretch>
            <a:fillRect/>
          </a:stretch>
        </p:blipFill>
        <p:spPr>
          <a:xfrm>
            <a:off x="6400800" y="3977640"/>
            <a:ext cx="411480" cy="411480"/>
          </a:xfrm>
          <a:prstGeom prst="rect">
            <a:avLst/>
          </a:prstGeom>
        </p:spPr>
      </p:pic>
      <p:sp>
        <p:nvSpPr>
          <p:cNvPr id="26" name="Text 20"/>
          <p:cNvSpPr/>
          <p:nvPr/>
        </p:nvSpPr>
        <p:spPr>
          <a:xfrm>
            <a:off x="6903720" y="3977640"/>
            <a:ext cx="41148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4. 실무 디자인 &amp; 엑셀</a:t>
            </a:r>
            <a:endParaRPr lang="en-US" sz="1500" dirty="0"/>
          </a:p>
        </p:txBody>
      </p:sp>
      <p:sp>
        <p:nvSpPr>
          <p:cNvPr id="27" name="Text 21"/>
          <p:cNvSpPr/>
          <p:nvPr/>
        </p:nvSpPr>
        <p:spPr>
          <a:xfrm>
            <a:off x="6400800" y="4389120"/>
            <a:ext cx="4572000" cy="274320"/>
          </a:xfrm>
          <a:prstGeom prst="rect">
            <a:avLst/>
          </a:prstGeom>
          <a:noFill/>
          <a:ln/>
        </p:spPr>
        <p:txBody>
          <a:bodyPr wrap="square" rtlCol="0" anchor="ctr"/>
          <a:lstStyle/>
          <a:p>
            <a:pPr indent="0" marL="0">
              <a:buNone/>
            </a:pPr>
            <a:r>
              <a:rPr lang="en-US" sz="1100" b="1" dirty="0">
                <a:solidFill>
                  <a:srgbClr val="B85042"/>
                </a:solidFill>
                <a:latin typeface="NanumGothic" pitchFamily="34" charset="0"/>
                <a:ea typeface="NanumGothic" pitchFamily="34" charset="-122"/>
                <a:cs typeface="NanumGothic" pitchFamily="34" charset="-120"/>
              </a:rPr>
              <a:t>핵심키워드: 디자인, 엑셀, 가이드, 실무</a:t>
            </a:r>
            <a:endParaRPr lang="en-US" sz="1100" dirty="0"/>
          </a:p>
        </p:txBody>
      </p:sp>
      <p:sp>
        <p:nvSpPr>
          <p:cNvPr id="28" name="Text 22"/>
          <p:cNvSpPr/>
          <p:nvPr/>
        </p:nvSpPr>
        <p:spPr>
          <a:xfrm>
            <a:off x="6400800" y="4709160"/>
            <a:ext cx="4572000" cy="914400"/>
          </a:xfrm>
          <a:prstGeom prst="rect">
            <a:avLst/>
          </a:prstGeom>
          <a:noFill/>
          <a:ln/>
        </p:spPr>
        <p:txBody>
          <a:bodyPr wrap="square" rtlCol="0" anchor="ctr"/>
          <a:lstStyle/>
          <a:p>
            <a:pPr indent="0" marL="0">
              <a:lnSpc>
                <a:spcPts val="1700"/>
              </a:lnSpc>
              <a:buNone/>
            </a:pPr>
            <a:r>
              <a:rPr lang="en-US" sz="1200" dirty="0">
                <a:solidFill>
                  <a:srgbClr val="7A6C5D"/>
                </a:solidFill>
                <a:latin typeface="NanumGothic" pitchFamily="34" charset="0"/>
                <a:ea typeface="NanumGothic" pitchFamily="34" charset="-122"/>
                <a:cs typeface="NanumGothic" pitchFamily="34" charset="-120"/>
              </a:rPr>
              <a:t>생성형 AI를 엑셀 데이터 분석 및 디자인 작업에 결합하는 실용서 수요 폭발</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4.1 20년차 데이터 분석가의 4대 핵심 파인딩 요약</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5150815" cy="2011680"/>
          </a:xfrm>
          <a:prstGeom prst="roundRect">
            <a:avLst>
              <a:gd name="adj" fmla="val 3636"/>
            </a:avLst>
          </a:prstGeom>
          <a:solidFill>
            <a:srgbClr val="FFFFFF"/>
          </a:solidFill>
          <a:ln w="12700">
            <a:solidFill>
              <a:srgbClr val="B85042"/>
            </a:solidFill>
            <a:prstDash val="solid"/>
          </a:ln>
        </p:spPr>
      </p:sp>
      <p:pic>
        <p:nvPicPr>
          <p:cNvPr id="10" name="Image 0" descr="preencoded.png">    </p:cNvPr>
          <p:cNvPicPr>
            <a:picLocks noChangeAspect="1"/>
          </p:cNvPicPr>
          <p:nvPr/>
        </p:nvPicPr>
        <p:blipFill>
          <a:blip r:embed="rId1"/>
          <a:stretch>
            <a:fillRect/>
          </a:stretch>
        </p:blipFill>
        <p:spPr>
          <a:xfrm>
            <a:off x="1005840" y="1691640"/>
            <a:ext cx="411480" cy="411480"/>
          </a:xfrm>
          <a:prstGeom prst="rect">
            <a:avLst/>
          </a:prstGeom>
        </p:spPr>
      </p:pic>
      <p:sp>
        <p:nvSpPr>
          <p:cNvPr id="11" name="Text 8"/>
          <p:cNvSpPr/>
          <p:nvPr/>
        </p:nvSpPr>
        <p:spPr>
          <a:xfrm>
            <a:off x="1508760" y="1645920"/>
            <a:ext cx="4114800" cy="228600"/>
          </a:xfrm>
          <a:prstGeom prst="rect">
            <a:avLst/>
          </a:prstGeom>
          <a:noFill/>
          <a:ln/>
        </p:spPr>
        <p:txBody>
          <a:bodyPr wrap="square" rtlCol="0" anchor="ctr"/>
          <a:lstStyle/>
          <a:p>
            <a:pPr indent="0" marL="0">
              <a:buNone/>
            </a:pPr>
            <a:r>
              <a:rPr lang="en-US" sz="1000" b="1" dirty="0">
                <a:solidFill>
                  <a:srgbClr val="B85042"/>
                </a:solidFill>
                <a:latin typeface="NanumGothic" pitchFamily="34" charset="0"/>
                <a:ea typeface="NanumGothic" pitchFamily="34" charset="-122"/>
                <a:cs typeface="NanumGothic" pitchFamily="34" charset="-120"/>
              </a:rPr>
              <a:t>FINDING 01</a:t>
            </a:r>
            <a:endParaRPr lang="en-US" sz="1000" dirty="0"/>
          </a:p>
        </p:txBody>
      </p:sp>
      <p:sp>
        <p:nvSpPr>
          <p:cNvPr id="12" name="Text 9"/>
          <p:cNvSpPr/>
          <p:nvPr/>
        </p:nvSpPr>
        <p:spPr>
          <a:xfrm>
            <a:off x="1508760" y="1874520"/>
            <a:ext cx="41148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체감 가격 저항선 &amp; 정가 설정</a:t>
            </a:r>
            <a:endParaRPr lang="en-US" sz="1500" dirty="0"/>
          </a:p>
        </p:txBody>
      </p:sp>
      <p:sp>
        <p:nvSpPr>
          <p:cNvPr id="13" name="Text 10"/>
          <p:cNvSpPr/>
          <p:nvPr/>
        </p:nvSpPr>
        <p:spPr>
          <a:xfrm>
            <a:off x="1005840" y="2331720"/>
            <a:ext cx="4572000" cy="1005840"/>
          </a:xfrm>
          <a:prstGeom prst="rect">
            <a:avLst/>
          </a:prstGeom>
          <a:noFill/>
          <a:ln/>
        </p:spPr>
        <p:txBody>
          <a:bodyPr wrap="square" rtlCol="0" anchor="ctr"/>
          <a:lstStyle/>
          <a:p>
            <a:pPr indent="0" marL="0">
              <a:lnSpc>
                <a:spcPts val="1700"/>
              </a:lnSpc>
              <a:buNone/>
            </a:pPr>
            <a:r>
              <a:rPr lang="en-US" sz="1150" dirty="0">
                <a:solidFill>
                  <a:srgbClr val="7A6C5D"/>
                </a:solidFill>
                <a:latin typeface="NanumGothic" pitchFamily="34" charset="0"/>
                <a:ea typeface="NanumGothic" pitchFamily="34" charset="-122"/>
                <a:cs typeface="NanumGothic" pitchFamily="34" charset="-120"/>
              </a:rPr>
              <a:t>베스트셀러의 60% 이상이 정가 20,000~30,000원 구간에 집중되며 10% 정률 할인이 표준화됨</a:t>
            </a:r>
            <a:endParaRPr lang="en-US" sz="1150" dirty="0"/>
          </a:p>
        </p:txBody>
      </p:sp>
      <p:sp>
        <p:nvSpPr>
          <p:cNvPr id="14" name="Shape 11"/>
          <p:cNvSpPr/>
          <p:nvPr/>
        </p:nvSpPr>
        <p:spPr>
          <a:xfrm>
            <a:off x="6126480" y="1463040"/>
            <a:ext cx="5150815" cy="2011680"/>
          </a:xfrm>
          <a:prstGeom prst="roundRect">
            <a:avLst>
              <a:gd name="adj" fmla="val 3636"/>
            </a:avLst>
          </a:prstGeom>
          <a:solidFill>
            <a:srgbClr val="FFFFFF"/>
          </a:solidFill>
          <a:ln w="12700">
            <a:solidFill>
              <a:srgbClr val="B85042"/>
            </a:solidFill>
            <a:prstDash val="solid"/>
          </a:ln>
        </p:spPr>
      </p:sp>
      <p:pic>
        <p:nvPicPr>
          <p:cNvPr id="15" name="Image 1" descr="preencoded.png">    </p:cNvPr>
          <p:cNvPicPr>
            <a:picLocks noChangeAspect="1"/>
          </p:cNvPicPr>
          <p:nvPr/>
        </p:nvPicPr>
        <p:blipFill>
          <a:blip r:embed="rId2"/>
          <a:stretch>
            <a:fillRect/>
          </a:stretch>
        </p:blipFill>
        <p:spPr>
          <a:xfrm>
            <a:off x="6400800" y="1691640"/>
            <a:ext cx="411480" cy="411480"/>
          </a:xfrm>
          <a:prstGeom prst="rect">
            <a:avLst/>
          </a:prstGeom>
        </p:spPr>
      </p:pic>
      <p:sp>
        <p:nvSpPr>
          <p:cNvPr id="16" name="Text 12"/>
          <p:cNvSpPr/>
          <p:nvPr/>
        </p:nvSpPr>
        <p:spPr>
          <a:xfrm>
            <a:off x="6903720" y="1645920"/>
            <a:ext cx="4114800" cy="228600"/>
          </a:xfrm>
          <a:prstGeom prst="rect">
            <a:avLst/>
          </a:prstGeom>
          <a:noFill/>
          <a:ln/>
        </p:spPr>
        <p:txBody>
          <a:bodyPr wrap="square" rtlCol="0" anchor="ctr"/>
          <a:lstStyle/>
          <a:p>
            <a:pPr indent="0" marL="0">
              <a:buNone/>
            </a:pPr>
            <a:r>
              <a:rPr lang="en-US" sz="1000" b="1" dirty="0">
                <a:solidFill>
                  <a:srgbClr val="B85042"/>
                </a:solidFill>
                <a:latin typeface="NanumGothic" pitchFamily="34" charset="0"/>
                <a:ea typeface="NanumGothic" pitchFamily="34" charset="-122"/>
                <a:cs typeface="NanumGothic" pitchFamily="34" charset="-120"/>
              </a:rPr>
              <a:t>FINDING 02</a:t>
            </a:r>
            <a:endParaRPr lang="en-US" sz="1000" dirty="0"/>
          </a:p>
        </p:txBody>
      </p:sp>
      <p:sp>
        <p:nvSpPr>
          <p:cNvPr id="17" name="Text 13"/>
          <p:cNvSpPr/>
          <p:nvPr/>
        </p:nvSpPr>
        <p:spPr>
          <a:xfrm>
            <a:off x="6903720" y="1874520"/>
            <a:ext cx="41148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흥행 비대칭성 &amp; 롱테일 관리</a:t>
            </a:r>
            <a:endParaRPr lang="en-US" sz="1500" dirty="0"/>
          </a:p>
        </p:txBody>
      </p:sp>
      <p:sp>
        <p:nvSpPr>
          <p:cNvPr id="18" name="Text 14"/>
          <p:cNvSpPr/>
          <p:nvPr/>
        </p:nvSpPr>
        <p:spPr>
          <a:xfrm>
            <a:off x="6400800" y="2331720"/>
            <a:ext cx="4572000" cy="1005840"/>
          </a:xfrm>
          <a:prstGeom prst="rect">
            <a:avLst/>
          </a:prstGeom>
          <a:noFill/>
          <a:ln/>
        </p:spPr>
        <p:txBody>
          <a:bodyPr wrap="square" rtlCol="0" anchor="ctr"/>
          <a:lstStyle/>
          <a:p>
            <a:pPr indent="0" marL="0">
              <a:lnSpc>
                <a:spcPts val="1700"/>
              </a:lnSpc>
              <a:buNone/>
            </a:pPr>
            <a:r>
              <a:rPr lang="en-US" sz="1150" dirty="0">
                <a:solidFill>
                  <a:srgbClr val="7A6C5D"/>
                </a:solidFill>
                <a:latin typeface="NanumGothic" pitchFamily="34" charset="0"/>
                <a:ea typeface="NanumGothic" pitchFamily="34" charset="-122"/>
                <a:cs typeface="NanumGothic" pitchFamily="34" charset="-120"/>
              </a:rPr>
              <a:t>상위 5% 메가 베스트셀러가 전체 판매량을 독점함. 메가작의 물류 리드타임 제로화가 필수적임</a:t>
            </a:r>
            <a:endParaRPr lang="en-US" sz="1150" dirty="0"/>
          </a:p>
        </p:txBody>
      </p:sp>
      <p:sp>
        <p:nvSpPr>
          <p:cNvPr id="19" name="Shape 15"/>
          <p:cNvSpPr/>
          <p:nvPr/>
        </p:nvSpPr>
        <p:spPr>
          <a:xfrm>
            <a:off x="731520" y="3749040"/>
            <a:ext cx="5150815" cy="2011680"/>
          </a:xfrm>
          <a:prstGeom prst="roundRect">
            <a:avLst>
              <a:gd name="adj" fmla="val 3636"/>
            </a:avLst>
          </a:prstGeom>
          <a:solidFill>
            <a:srgbClr val="FFFFFF"/>
          </a:solidFill>
          <a:ln w="12700">
            <a:solidFill>
              <a:srgbClr val="B85042"/>
            </a:solidFill>
            <a:prstDash val="solid"/>
          </a:ln>
        </p:spPr>
      </p:sp>
      <p:pic>
        <p:nvPicPr>
          <p:cNvPr id="20" name="Image 2" descr="preencoded.png">    </p:cNvPr>
          <p:cNvPicPr>
            <a:picLocks noChangeAspect="1"/>
          </p:cNvPicPr>
          <p:nvPr/>
        </p:nvPicPr>
        <p:blipFill>
          <a:blip r:embed="rId3"/>
          <a:stretch>
            <a:fillRect/>
          </a:stretch>
        </p:blipFill>
        <p:spPr>
          <a:xfrm>
            <a:off x="1005840" y="3977640"/>
            <a:ext cx="411480" cy="411480"/>
          </a:xfrm>
          <a:prstGeom prst="rect">
            <a:avLst/>
          </a:prstGeom>
        </p:spPr>
      </p:pic>
      <p:sp>
        <p:nvSpPr>
          <p:cNvPr id="21" name="Text 16"/>
          <p:cNvSpPr/>
          <p:nvPr/>
        </p:nvSpPr>
        <p:spPr>
          <a:xfrm>
            <a:off x="1508760" y="3931920"/>
            <a:ext cx="4114800" cy="228600"/>
          </a:xfrm>
          <a:prstGeom prst="rect">
            <a:avLst/>
          </a:prstGeom>
          <a:noFill/>
          <a:ln/>
        </p:spPr>
        <p:txBody>
          <a:bodyPr wrap="square" rtlCol="0" anchor="ctr"/>
          <a:lstStyle/>
          <a:p>
            <a:pPr indent="0" marL="0">
              <a:buNone/>
            </a:pPr>
            <a:r>
              <a:rPr lang="en-US" sz="1000" b="1" dirty="0">
                <a:solidFill>
                  <a:srgbClr val="B85042"/>
                </a:solidFill>
                <a:latin typeface="NanumGothic" pitchFamily="34" charset="0"/>
                <a:ea typeface="NanumGothic" pitchFamily="34" charset="-122"/>
                <a:cs typeface="NanumGothic" pitchFamily="34" charset="-120"/>
              </a:rPr>
              <a:t>FINDING 03</a:t>
            </a:r>
            <a:endParaRPr lang="en-US" sz="1000" dirty="0"/>
          </a:p>
        </p:txBody>
      </p:sp>
      <p:sp>
        <p:nvSpPr>
          <p:cNvPr id="22" name="Text 17"/>
          <p:cNvSpPr/>
          <p:nvPr/>
        </p:nvSpPr>
        <p:spPr>
          <a:xfrm>
            <a:off x="1508760" y="4160520"/>
            <a:ext cx="41148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AI 생성형 트렌드 키워드 지배</a:t>
            </a:r>
            <a:endParaRPr lang="en-US" sz="1500" dirty="0"/>
          </a:p>
        </p:txBody>
      </p:sp>
      <p:sp>
        <p:nvSpPr>
          <p:cNvPr id="23" name="Text 18"/>
          <p:cNvSpPr/>
          <p:nvPr/>
        </p:nvSpPr>
        <p:spPr>
          <a:xfrm>
            <a:off x="1005840" y="4617720"/>
            <a:ext cx="4572000" cy="1005840"/>
          </a:xfrm>
          <a:prstGeom prst="rect">
            <a:avLst/>
          </a:prstGeom>
          <a:noFill/>
          <a:ln/>
        </p:spPr>
        <p:txBody>
          <a:bodyPr wrap="square" rtlCol="0" anchor="ctr"/>
          <a:lstStyle/>
          <a:p>
            <a:pPr indent="0" marL="0">
              <a:lnSpc>
                <a:spcPts val="1700"/>
              </a:lnSpc>
              <a:buNone/>
            </a:pPr>
            <a:r>
              <a:rPr lang="en-US" sz="1150" dirty="0">
                <a:solidFill>
                  <a:srgbClr val="7A6C5D"/>
                </a:solidFill>
                <a:latin typeface="NanumGothic" pitchFamily="34" charset="0"/>
                <a:ea typeface="NanumGothic" pitchFamily="34" charset="-122"/>
                <a:cs typeface="NanumGothic" pitchFamily="34" charset="-120"/>
              </a:rPr>
              <a:t>AI, 클로드, 챗GPT, 에이전트 등 최신 기술 키워드가 시장 독자 수요 장악. 트렌드 키워드 선점 필수</a:t>
            </a:r>
            <a:endParaRPr lang="en-US" sz="1150" dirty="0"/>
          </a:p>
        </p:txBody>
      </p:sp>
      <p:sp>
        <p:nvSpPr>
          <p:cNvPr id="24" name="Shape 19"/>
          <p:cNvSpPr/>
          <p:nvPr/>
        </p:nvSpPr>
        <p:spPr>
          <a:xfrm>
            <a:off x="6126480" y="3749040"/>
            <a:ext cx="5150815" cy="2011680"/>
          </a:xfrm>
          <a:prstGeom prst="roundRect">
            <a:avLst>
              <a:gd name="adj" fmla="val 3636"/>
            </a:avLst>
          </a:prstGeom>
          <a:solidFill>
            <a:srgbClr val="FFFFFF"/>
          </a:solidFill>
          <a:ln w="12700">
            <a:solidFill>
              <a:srgbClr val="B85042"/>
            </a:solidFill>
            <a:prstDash val="solid"/>
          </a:ln>
        </p:spPr>
      </p:sp>
      <p:pic>
        <p:nvPicPr>
          <p:cNvPr id="25" name="Image 3" descr="preencoded.png">    </p:cNvPr>
          <p:cNvPicPr>
            <a:picLocks noChangeAspect="1"/>
          </p:cNvPicPr>
          <p:nvPr/>
        </p:nvPicPr>
        <p:blipFill>
          <a:blip r:embed="rId4"/>
          <a:stretch>
            <a:fillRect/>
          </a:stretch>
        </p:blipFill>
        <p:spPr>
          <a:xfrm>
            <a:off x="6400800" y="3977640"/>
            <a:ext cx="411480" cy="411480"/>
          </a:xfrm>
          <a:prstGeom prst="rect">
            <a:avLst/>
          </a:prstGeom>
        </p:spPr>
      </p:pic>
      <p:sp>
        <p:nvSpPr>
          <p:cNvPr id="26" name="Text 20"/>
          <p:cNvSpPr/>
          <p:nvPr/>
        </p:nvSpPr>
        <p:spPr>
          <a:xfrm>
            <a:off x="6903720" y="3931920"/>
            <a:ext cx="4114800" cy="228600"/>
          </a:xfrm>
          <a:prstGeom prst="rect">
            <a:avLst/>
          </a:prstGeom>
          <a:noFill/>
          <a:ln/>
        </p:spPr>
        <p:txBody>
          <a:bodyPr wrap="square" rtlCol="0" anchor="ctr"/>
          <a:lstStyle/>
          <a:p>
            <a:pPr indent="0" marL="0">
              <a:buNone/>
            </a:pPr>
            <a:r>
              <a:rPr lang="en-US" sz="1000" b="1" dirty="0">
                <a:solidFill>
                  <a:srgbClr val="B85042"/>
                </a:solidFill>
                <a:latin typeface="NanumGothic" pitchFamily="34" charset="0"/>
                <a:ea typeface="NanumGothic" pitchFamily="34" charset="-122"/>
                <a:cs typeface="NanumGothic" pitchFamily="34" charset="-120"/>
              </a:rPr>
              <a:t>FINDING 04</a:t>
            </a:r>
            <a:endParaRPr lang="en-US" sz="1000" dirty="0"/>
          </a:p>
        </p:txBody>
      </p:sp>
      <p:sp>
        <p:nvSpPr>
          <p:cNvPr id="27" name="Text 21"/>
          <p:cNvSpPr/>
          <p:nvPr/>
        </p:nvSpPr>
        <p:spPr>
          <a:xfrm>
            <a:off x="6903720" y="4160520"/>
            <a:ext cx="4114800" cy="320040"/>
          </a:xfrm>
          <a:prstGeom prst="rect">
            <a:avLst/>
          </a:prstGeom>
          <a:noFill/>
          <a:ln/>
        </p:spPr>
        <p:txBody>
          <a:bodyPr wrap="square" rtlCol="0" anchor="ctr"/>
          <a:lstStyle/>
          <a:p>
            <a:pPr indent="0" marL="0">
              <a:buNone/>
            </a:pPr>
            <a:r>
              <a:rPr lang="en-US" sz="1500" b="1" dirty="0">
                <a:solidFill>
                  <a:srgbClr val="3D3530"/>
                </a:solidFill>
                <a:latin typeface="Gmarket Sans Bold" pitchFamily="34" charset="0"/>
                <a:ea typeface="Gmarket Sans Bold" pitchFamily="34" charset="-122"/>
                <a:cs typeface="Gmarket Sans Bold" pitchFamily="34" charset="-120"/>
              </a:rPr>
              <a:t>초기 평점 9.5+ &amp; 리뷰 30건 축적</a:t>
            </a:r>
            <a:endParaRPr lang="en-US" sz="1500" dirty="0"/>
          </a:p>
        </p:txBody>
      </p:sp>
      <p:sp>
        <p:nvSpPr>
          <p:cNvPr id="28" name="Text 22"/>
          <p:cNvSpPr/>
          <p:nvPr/>
        </p:nvSpPr>
        <p:spPr>
          <a:xfrm>
            <a:off x="6400800" y="4617720"/>
            <a:ext cx="4572000" cy="1005840"/>
          </a:xfrm>
          <a:prstGeom prst="rect">
            <a:avLst/>
          </a:prstGeom>
          <a:noFill/>
          <a:ln/>
        </p:spPr>
        <p:txBody>
          <a:bodyPr wrap="square" rtlCol="0" anchor="ctr"/>
          <a:lstStyle/>
          <a:p>
            <a:pPr indent="0" marL="0">
              <a:lnSpc>
                <a:spcPts val="1700"/>
              </a:lnSpc>
              <a:buNone/>
            </a:pPr>
            <a:r>
              <a:rPr lang="en-US" sz="1150" dirty="0">
                <a:solidFill>
                  <a:srgbClr val="7A6C5D"/>
                </a:solidFill>
                <a:latin typeface="NanumGothic" pitchFamily="34" charset="0"/>
                <a:ea typeface="NanumGothic" pitchFamily="34" charset="-122"/>
                <a:cs typeface="NanumGothic" pitchFamily="34" charset="-120"/>
              </a:rPr>
              <a:t>평점 9.5점 이상 확보는 기본 조건이며, 리뷰 볼륨 30건 이상 누적이 구전 효과(WOM)를 창출함</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11155680" y="411480"/>
            <a:ext cx="137160" cy="137160"/>
          </a:xfrm>
          <a:prstGeom prst="ellipse">
            <a:avLst/>
          </a:prstGeom>
          <a:solidFill>
            <a:srgbClr val="B85042"/>
          </a:solidFill>
          <a:ln/>
        </p:spPr>
      </p:sp>
      <p:sp>
        <p:nvSpPr>
          <p:cNvPr id="3" name="Shape 1"/>
          <p:cNvSpPr/>
          <p:nvPr/>
        </p:nvSpPr>
        <p:spPr>
          <a:xfrm>
            <a:off x="11384280" y="411480"/>
            <a:ext cx="137160" cy="137160"/>
          </a:xfrm>
          <a:prstGeom prst="ellipse">
            <a:avLst/>
          </a:prstGeom>
          <a:solidFill>
            <a:srgbClr val="7A6C5D"/>
          </a:solidFill>
          <a:ln/>
        </p:spPr>
      </p:sp>
      <p:sp>
        <p:nvSpPr>
          <p:cNvPr id="4" name="Shape 2"/>
          <p:cNvSpPr/>
          <p:nvPr/>
        </p:nvSpPr>
        <p:spPr>
          <a:xfrm>
            <a:off x="11612880" y="411480"/>
            <a:ext cx="137160" cy="137160"/>
          </a:xfrm>
          <a:prstGeom prst="ellipse">
            <a:avLst/>
          </a:prstGeom>
          <a:solidFill>
            <a:srgbClr val="D9CFC4"/>
          </a:solidFill>
          <a:ln/>
        </p:spPr>
      </p:sp>
      <p:sp>
        <p:nvSpPr>
          <p:cNvPr id="5" name="Text 3"/>
          <p:cNvSpPr/>
          <p:nvPr/>
        </p:nvSpPr>
        <p:spPr>
          <a:xfrm>
            <a:off x="731520" y="365760"/>
            <a:ext cx="9601200" cy="274320"/>
          </a:xfrm>
          <a:prstGeom prst="rect">
            <a:avLst/>
          </a:prstGeom>
          <a:noFill/>
          <a:ln/>
        </p:spPr>
        <p:txBody>
          <a:bodyPr wrap="square" lIns="0" tIns="0" rIns="0" bIns="0" rtlCol="0" anchor="ctr"/>
          <a:lstStyle/>
          <a:p>
            <a:pPr indent="0" marL="0">
              <a:buNone/>
            </a:pPr>
            <a:r>
              <a:rPr lang="en-US" sz="950" b="1" dirty="0">
                <a:solidFill>
                  <a:srgbClr val="B85042"/>
                </a:solidFill>
                <a:latin typeface="NanumGothic" pitchFamily="34" charset="0"/>
                <a:ea typeface="NanumGothic" pitchFamily="34" charset="-122"/>
                <a:cs typeface="NanumGothic" pitchFamily="34" charset="-120"/>
              </a:rPr>
              <a:t>YES24 BESTSELLER EDA | NORDIC SERIES</a:t>
            </a:r>
            <a:endParaRPr lang="en-US" sz="950" dirty="0"/>
          </a:p>
        </p:txBody>
      </p:sp>
      <p:sp>
        <p:nvSpPr>
          <p:cNvPr id="6" name="Text 4"/>
          <p:cNvSpPr/>
          <p:nvPr/>
        </p:nvSpPr>
        <p:spPr>
          <a:xfrm>
            <a:off x="731520" y="640080"/>
            <a:ext cx="9601200" cy="548640"/>
          </a:xfrm>
          <a:prstGeom prst="rect">
            <a:avLst/>
          </a:prstGeom>
          <a:noFill/>
          <a:ln/>
        </p:spPr>
        <p:txBody>
          <a:bodyPr wrap="square" lIns="0" tIns="0" rIns="0" bIns="0" rtlCol="0" anchor="ctr"/>
          <a:lstStyle/>
          <a:p>
            <a:pPr indent="0" marL="0">
              <a:buNone/>
            </a:pPr>
            <a:r>
              <a:rPr lang="en-US" sz="2200" b="1" dirty="0">
                <a:solidFill>
                  <a:srgbClr val="3D3530"/>
                </a:solidFill>
                <a:latin typeface="Gmarket Sans Bold" pitchFamily="34" charset="0"/>
                <a:ea typeface="Gmarket Sans Bold" pitchFamily="34" charset="-122"/>
                <a:cs typeface="Gmarket Sans Bold" pitchFamily="34" charset="-120"/>
              </a:rPr>
              <a:t>4.2 출판사 &amp; 유통사 3단계 전략 실행 로드맵</a:t>
            </a:r>
            <a:endParaRPr lang="en-US" sz="2200" dirty="0"/>
          </a:p>
        </p:txBody>
      </p:sp>
      <p:sp>
        <p:nvSpPr>
          <p:cNvPr id="7" name="Shape 5"/>
          <p:cNvSpPr/>
          <p:nvPr/>
        </p:nvSpPr>
        <p:spPr>
          <a:xfrm>
            <a:off x="731520" y="6400800"/>
            <a:ext cx="10728655" cy="0"/>
          </a:xfrm>
          <a:prstGeom prst="line">
            <a:avLst/>
          </a:prstGeom>
          <a:noFill/>
          <a:ln w="12700">
            <a:solidFill>
              <a:srgbClr val="E2DACD"/>
            </a:solidFill>
            <a:prstDash val="solid"/>
          </a:ln>
        </p:spPr>
      </p:sp>
      <p:sp>
        <p:nvSpPr>
          <p:cNvPr id="8" name="Text 6"/>
          <p:cNvSpPr/>
          <p:nvPr/>
        </p:nvSpPr>
        <p:spPr>
          <a:xfrm>
            <a:off x="731520" y="6446520"/>
            <a:ext cx="7315200" cy="274320"/>
          </a:xfrm>
          <a:prstGeom prst="rect">
            <a:avLst/>
          </a:prstGeom>
          <a:noFill/>
          <a:ln/>
        </p:spPr>
        <p:txBody>
          <a:bodyPr wrap="square" lIns="0" tIns="0" rIns="0" bIns="0" rtlCol="0" anchor="ctr"/>
          <a:lstStyle/>
          <a:p>
            <a:pPr indent="0" marL="0">
              <a:buNone/>
            </a:pPr>
            <a:r>
              <a:rPr lang="en-US" sz="900" dirty="0">
                <a:solidFill>
                  <a:srgbClr val="7A6C5D"/>
                </a:solidFill>
                <a:latin typeface="NanumGothic" pitchFamily="34" charset="0"/>
                <a:ea typeface="NanumGothic" pitchFamily="34" charset="-122"/>
                <a:cs typeface="NanumGothic" pitchFamily="34" charset="-120"/>
              </a:rPr>
              <a:t>YES24 Bestseller EDA Report | Nordic Minimalist &amp; Terracotta Edition</a:t>
            </a:r>
            <a:endParaRPr lang="en-US" sz="900" dirty="0"/>
          </a:p>
        </p:txBody>
      </p:sp>
      <p:sp>
        <p:nvSpPr>
          <p:cNvPr id="9" name="Shape 7"/>
          <p:cNvSpPr/>
          <p:nvPr/>
        </p:nvSpPr>
        <p:spPr>
          <a:xfrm>
            <a:off x="731520" y="1463040"/>
            <a:ext cx="3474720" cy="4480560"/>
          </a:xfrm>
          <a:prstGeom prst="roundRect">
            <a:avLst>
              <a:gd name="adj" fmla="val 2105"/>
            </a:avLst>
          </a:prstGeom>
          <a:solidFill>
            <a:srgbClr val="FFFFFF"/>
          </a:solidFill>
          <a:ln w="19050">
            <a:solidFill>
              <a:srgbClr val="E2DACD"/>
            </a:solidFill>
            <a:prstDash val="solid"/>
          </a:ln>
        </p:spPr>
      </p:sp>
      <p:pic>
        <p:nvPicPr>
          <p:cNvPr id="10" name="Image 0" descr="preencoded.png">    </p:cNvPr>
          <p:cNvPicPr>
            <a:picLocks noChangeAspect="1"/>
          </p:cNvPicPr>
          <p:nvPr/>
        </p:nvPicPr>
        <p:blipFill>
          <a:blip r:embed="rId1"/>
          <a:stretch>
            <a:fillRect/>
          </a:stretch>
        </p:blipFill>
        <p:spPr>
          <a:xfrm>
            <a:off x="1005840" y="1691640"/>
            <a:ext cx="411480" cy="411480"/>
          </a:xfrm>
          <a:prstGeom prst="rect">
            <a:avLst/>
          </a:prstGeom>
        </p:spPr>
      </p:pic>
      <p:sp>
        <p:nvSpPr>
          <p:cNvPr id="11" name="Text 8"/>
          <p:cNvSpPr/>
          <p:nvPr/>
        </p:nvSpPr>
        <p:spPr>
          <a:xfrm>
            <a:off x="1508760" y="1737360"/>
            <a:ext cx="2468880" cy="274320"/>
          </a:xfrm>
          <a:prstGeom prst="rect">
            <a:avLst/>
          </a:prstGeom>
          <a:noFill/>
          <a:ln/>
        </p:spPr>
        <p:txBody>
          <a:bodyPr wrap="square" rtlCol="0" anchor="ctr"/>
          <a:lstStyle/>
          <a:p>
            <a:pPr indent="0" marL="0">
              <a:buNone/>
            </a:pPr>
            <a:r>
              <a:rPr lang="en-US" sz="1050" b="1" dirty="0">
                <a:solidFill>
                  <a:srgbClr val="963B2F"/>
                </a:solidFill>
                <a:latin typeface="NanumGothic" pitchFamily="34" charset="0"/>
                <a:ea typeface="NanumGothic" pitchFamily="34" charset="-122"/>
                <a:cs typeface="NanumGothic" pitchFamily="34" charset="-120"/>
              </a:rPr>
              <a:t>PHASE 1. 출간 전 기획 (Pre-Launch)</a:t>
            </a:r>
            <a:endParaRPr lang="en-US" sz="1050" dirty="0"/>
          </a:p>
        </p:txBody>
      </p:sp>
      <p:sp>
        <p:nvSpPr>
          <p:cNvPr id="12" name="Text 9"/>
          <p:cNvSpPr/>
          <p:nvPr/>
        </p:nvSpPr>
        <p:spPr>
          <a:xfrm>
            <a:off x="1005840" y="2194560"/>
            <a:ext cx="3108960" cy="640080"/>
          </a:xfrm>
          <a:prstGeom prst="rect">
            <a:avLst/>
          </a:prstGeom>
          <a:noFill/>
          <a:ln/>
        </p:spPr>
        <p:txBody>
          <a:bodyPr wrap="square" rtlCol="0" anchor="ctr"/>
          <a:lstStyle/>
          <a:p>
            <a:pPr indent="0" marL="0">
              <a:lnSpc>
                <a:spcPts val="1800"/>
              </a:lnSpc>
              <a:buNone/>
            </a:pPr>
            <a:r>
              <a:rPr lang="en-US" sz="1500" b="1" dirty="0">
                <a:solidFill>
                  <a:srgbClr val="3D3530"/>
                </a:solidFill>
                <a:latin typeface="Gmarket Sans Bold" pitchFamily="34" charset="0"/>
                <a:ea typeface="Gmarket Sans Bold" pitchFamily="34" charset="-122"/>
                <a:cs typeface="Gmarket Sans Bold" pitchFamily="34" charset="-120"/>
              </a:rPr>
              <a:t>트렌드 키워드 &amp; 적정 정가 설정</a:t>
            </a:r>
            <a:endParaRPr lang="en-US" sz="1500" dirty="0"/>
          </a:p>
        </p:txBody>
      </p:sp>
      <p:sp>
        <p:nvSpPr>
          <p:cNvPr id="13" name="Text 10"/>
          <p:cNvSpPr/>
          <p:nvPr/>
        </p:nvSpPr>
        <p:spPr>
          <a:xfrm>
            <a:off x="1005840" y="2926080"/>
            <a:ext cx="3108960" cy="274320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 TF-IDF 상위 AI/자동화 키워드를 도서명 및 부제에 타깃 반영</a:t>
            </a:r>
            <a:endParaRPr lang="en-US" sz="1200" dirty="0"/>
          </a:p>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 22,000원~28,000원 정가 책정으로 저항선 최소화</a:t>
            </a:r>
            <a:endParaRPr lang="en-US" sz="1200" dirty="0"/>
          </a:p>
        </p:txBody>
      </p:sp>
      <p:sp>
        <p:nvSpPr>
          <p:cNvPr id="14" name="Shape 11"/>
          <p:cNvSpPr/>
          <p:nvPr/>
        </p:nvSpPr>
        <p:spPr>
          <a:xfrm>
            <a:off x="4343400" y="1463040"/>
            <a:ext cx="3474720" cy="4480560"/>
          </a:xfrm>
          <a:prstGeom prst="roundRect">
            <a:avLst>
              <a:gd name="adj" fmla="val 2105"/>
            </a:avLst>
          </a:prstGeom>
          <a:solidFill>
            <a:srgbClr val="FDF2F0"/>
          </a:solidFill>
          <a:ln w="19050">
            <a:solidFill>
              <a:srgbClr val="B85042"/>
            </a:solidFill>
            <a:prstDash val="solid"/>
          </a:ln>
        </p:spPr>
      </p:sp>
      <p:pic>
        <p:nvPicPr>
          <p:cNvPr id="15" name="Image 1" descr="preencoded.png">    </p:cNvPr>
          <p:cNvPicPr>
            <a:picLocks noChangeAspect="1"/>
          </p:cNvPicPr>
          <p:nvPr/>
        </p:nvPicPr>
        <p:blipFill>
          <a:blip r:embed="rId2"/>
          <a:stretch>
            <a:fillRect/>
          </a:stretch>
        </p:blipFill>
        <p:spPr>
          <a:xfrm>
            <a:off x="4617720" y="1691640"/>
            <a:ext cx="411480" cy="411480"/>
          </a:xfrm>
          <a:prstGeom prst="rect">
            <a:avLst/>
          </a:prstGeom>
        </p:spPr>
      </p:pic>
      <p:sp>
        <p:nvSpPr>
          <p:cNvPr id="16" name="Text 12"/>
          <p:cNvSpPr/>
          <p:nvPr/>
        </p:nvSpPr>
        <p:spPr>
          <a:xfrm>
            <a:off x="5120640" y="1737360"/>
            <a:ext cx="2468880" cy="274320"/>
          </a:xfrm>
          <a:prstGeom prst="rect">
            <a:avLst/>
          </a:prstGeom>
          <a:noFill/>
          <a:ln/>
        </p:spPr>
        <p:txBody>
          <a:bodyPr wrap="square" rtlCol="0" anchor="ctr"/>
          <a:lstStyle/>
          <a:p>
            <a:pPr indent="0" marL="0">
              <a:buNone/>
            </a:pPr>
            <a:r>
              <a:rPr lang="en-US" sz="1050" b="1" dirty="0">
                <a:solidFill>
                  <a:srgbClr val="963B2F"/>
                </a:solidFill>
                <a:latin typeface="NanumGothic" pitchFamily="34" charset="0"/>
                <a:ea typeface="NanumGothic" pitchFamily="34" charset="-122"/>
                <a:cs typeface="NanumGothic" pitchFamily="34" charset="-120"/>
              </a:rPr>
              <a:t>PHASE 2. 출간 초 1개월 (Launch)</a:t>
            </a:r>
            <a:endParaRPr lang="en-US" sz="1050" dirty="0"/>
          </a:p>
        </p:txBody>
      </p:sp>
      <p:sp>
        <p:nvSpPr>
          <p:cNvPr id="17" name="Text 13"/>
          <p:cNvSpPr/>
          <p:nvPr/>
        </p:nvSpPr>
        <p:spPr>
          <a:xfrm>
            <a:off x="4617720" y="2194560"/>
            <a:ext cx="3108960" cy="640080"/>
          </a:xfrm>
          <a:prstGeom prst="rect">
            <a:avLst/>
          </a:prstGeom>
          <a:noFill/>
          <a:ln/>
        </p:spPr>
        <p:txBody>
          <a:bodyPr wrap="square" rtlCol="0" anchor="ctr"/>
          <a:lstStyle/>
          <a:p>
            <a:pPr indent="0" marL="0">
              <a:lnSpc>
                <a:spcPts val="1800"/>
              </a:lnSpc>
              <a:buNone/>
            </a:pPr>
            <a:r>
              <a:rPr lang="en-US" sz="1500" b="1" dirty="0">
                <a:solidFill>
                  <a:srgbClr val="3D3530"/>
                </a:solidFill>
                <a:latin typeface="Gmarket Sans Bold" pitchFamily="34" charset="0"/>
                <a:ea typeface="Gmarket Sans Bold" pitchFamily="34" charset="-122"/>
                <a:cs typeface="Gmarket Sans Bold" pitchFamily="34" charset="-120"/>
              </a:rPr>
              <a:t>초기 평점 &amp; 리뷰 30건 조기 확보</a:t>
            </a:r>
            <a:endParaRPr lang="en-US" sz="1500" dirty="0"/>
          </a:p>
        </p:txBody>
      </p:sp>
      <p:sp>
        <p:nvSpPr>
          <p:cNvPr id="18" name="Text 14"/>
          <p:cNvSpPr/>
          <p:nvPr/>
        </p:nvSpPr>
        <p:spPr>
          <a:xfrm>
            <a:off x="4617720" y="2926080"/>
            <a:ext cx="3108960" cy="274320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 출간 즉시 서평단 50명 운영으로 평점 9.5점 이상 방어</a:t>
            </a:r>
            <a:endParaRPr lang="en-US" sz="1200" dirty="0"/>
          </a:p>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 독점 굿즈 및 사은품 연계로 초기 결제 및 리뷰 촉진</a:t>
            </a:r>
            <a:endParaRPr lang="en-US" sz="1200" dirty="0"/>
          </a:p>
        </p:txBody>
      </p:sp>
      <p:sp>
        <p:nvSpPr>
          <p:cNvPr id="19" name="Shape 15"/>
          <p:cNvSpPr/>
          <p:nvPr/>
        </p:nvSpPr>
        <p:spPr>
          <a:xfrm>
            <a:off x="7955280" y="1463040"/>
            <a:ext cx="3474720" cy="4480560"/>
          </a:xfrm>
          <a:prstGeom prst="roundRect">
            <a:avLst>
              <a:gd name="adj" fmla="val 2105"/>
            </a:avLst>
          </a:prstGeom>
          <a:solidFill>
            <a:srgbClr val="FFFFFF"/>
          </a:solidFill>
          <a:ln w="19050">
            <a:solidFill>
              <a:srgbClr val="E2DACD"/>
            </a:solidFill>
            <a:prstDash val="solid"/>
          </a:ln>
        </p:spPr>
      </p:sp>
      <p:pic>
        <p:nvPicPr>
          <p:cNvPr id="20" name="Image 2" descr="preencoded.png">    </p:cNvPr>
          <p:cNvPicPr>
            <a:picLocks noChangeAspect="1"/>
          </p:cNvPicPr>
          <p:nvPr/>
        </p:nvPicPr>
        <p:blipFill>
          <a:blip r:embed="rId3"/>
          <a:stretch>
            <a:fillRect/>
          </a:stretch>
        </p:blipFill>
        <p:spPr>
          <a:xfrm>
            <a:off x="8229600" y="1691640"/>
            <a:ext cx="411480" cy="411480"/>
          </a:xfrm>
          <a:prstGeom prst="rect">
            <a:avLst/>
          </a:prstGeom>
        </p:spPr>
      </p:pic>
      <p:sp>
        <p:nvSpPr>
          <p:cNvPr id="21" name="Text 16"/>
          <p:cNvSpPr/>
          <p:nvPr/>
        </p:nvSpPr>
        <p:spPr>
          <a:xfrm>
            <a:off x="8732520" y="1737360"/>
            <a:ext cx="2468880" cy="274320"/>
          </a:xfrm>
          <a:prstGeom prst="rect">
            <a:avLst/>
          </a:prstGeom>
          <a:noFill/>
          <a:ln/>
        </p:spPr>
        <p:txBody>
          <a:bodyPr wrap="square" rtlCol="0" anchor="ctr"/>
          <a:lstStyle/>
          <a:p>
            <a:pPr indent="0" marL="0">
              <a:buNone/>
            </a:pPr>
            <a:r>
              <a:rPr lang="en-US" sz="1050" b="1" dirty="0">
                <a:solidFill>
                  <a:srgbClr val="963B2F"/>
                </a:solidFill>
                <a:latin typeface="NanumGothic" pitchFamily="34" charset="0"/>
                <a:ea typeface="NanumGothic" pitchFamily="34" charset="-122"/>
                <a:cs typeface="NanumGothic" pitchFamily="34" charset="-120"/>
              </a:rPr>
              <a:t>PHASE 3. 3개월 이후 (Post-Launch)</a:t>
            </a:r>
            <a:endParaRPr lang="en-US" sz="1050" dirty="0"/>
          </a:p>
        </p:txBody>
      </p:sp>
      <p:sp>
        <p:nvSpPr>
          <p:cNvPr id="22" name="Text 17"/>
          <p:cNvSpPr/>
          <p:nvPr/>
        </p:nvSpPr>
        <p:spPr>
          <a:xfrm>
            <a:off x="8229600" y="2194560"/>
            <a:ext cx="3108960" cy="640080"/>
          </a:xfrm>
          <a:prstGeom prst="rect">
            <a:avLst/>
          </a:prstGeom>
          <a:noFill/>
          <a:ln/>
        </p:spPr>
        <p:txBody>
          <a:bodyPr wrap="square" rtlCol="0" anchor="ctr"/>
          <a:lstStyle/>
          <a:p>
            <a:pPr indent="0" marL="0">
              <a:lnSpc>
                <a:spcPts val="1800"/>
              </a:lnSpc>
              <a:buNone/>
            </a:pPr>
            <a:r>
              <a:rPr lang="en-US" sz="1500" b="1" dirty="0">
                <a:solidFill>
                  <a:srgbClr val="3D3530"/>
                </a:solidFill>
                <a:latin typeface="Gmarket Sans Bold" pitchFamily="34" charset="0"/>
                <a:ea typeface="Gmarket Sans Bold" pitchFamily="34" charset="-122"/>
                <a:cs typeface="Gmarket Sans Bold" pitchFamily="34" charset="-120"/>
              </a:rPr>
              <a:t>S등급 메가작 재고 &amp; 바이럴 확장</a:t>
            </a:r>
            <a:endParaRPr lang="en-US" sz="1500" dirty="0"/>
          </a:p>
        </p:txBody>
      </p:sp>
      <p:sp>
        <p:nvSpPr>
          <p:cNvPr id="23" name="Text 18"/>
          <p:cNvSpPr/>
          <p:nvPr/>
        </p:nvSpPr>
        <p:spPr>
          <a:xfrm>
            <a:off x="8229600" y="2926080"/>
            <a:ext cx="3108960" cy="2743200"/>
          </a:xfrm>
          <a:prstGeom prst="rect">
            <a:avLst/>
          </a:prstGeom>
          <a:noFill/>
          <a:ln/>
        </p:spPr>
        <p:txBody>
          <a:bodyPr wrap="square" rtlCol="0" anchor="ctr"/>
          <a:lstStyle/>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 판매지수 상위 5% 메가작 집중 물류 리드타임 제로화</a:t>
            </a:r>
            <a:endParaRPr lang="en-US" sz="1200" dirty="0"/>
          </a:p>
          <a:p>
            <a:pPr indent="0" marL="0">
              <a:lnSpc>
                <a:spcPts val="1800"/>
              </a:lnSpc>
              <a:buNone/>
            </a:pPr>
            <a:r>
              <a:rPr lang="en-US" sz="1200" dirty="0">
                <a:solidFill>
                  <a:srgbClr val="3D3530"/>
                </a:solidFill>
                <a:latin typeface="NanumGothic" pitchFamily="34" charset="0"/>
                <a:ea typeface="NanumGothic" pitchFamily="34" charset="-122"/>
                <a:cs typeface="NanumGothic" pitchFamily="34" charset="-120"/>
              </a:rPr>
              <a:t>• 저자 직강 VOD 및 숏폼 영상 마케팅으로 스테디셀러화</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914400" y="1097280"/>
            <a:ext cx="10362895" cy="4389120"/>
          </a:xfrm>
          <a:prstGeom prst="roundRect">
            <a:avLst>
              <a:gd name="adj" fmla="val 1667"/>
            </a:avLst>
          </a:prstGeom>
          <a:solidFill>
            <a:srgbClr val="FFFFFF"/>
          </a:solidFill>
          <a:ln w="19050">
            <a:solidFill>
              <a:srgbClr val="B85042"/>
            </a:solidFill>
            <a:prstDash val="solid"/>
          </a:ln>
        </p:spPr>
      </p:sp>
      <p:sp>
        <p:nvSpPr>
          <p:cNvPr id="3" name="Text 1"/>
          <p:cNvSpPr/>
          <p:nvPr/>
        </p:nvSpPr>
        <p:spPr>
          <a:xfrm>
            <a:off x="1371600" y="1645920"/>
            <a:ext cx="9448495" cy="731520"/>
          </a:xfrm>
          <a:prstGeom prst="rect">
            <a:avLst/>
          </a:prstGeom>
          <a:noFill/>
          <a:ln/>
        </p:spPr>
        <p:txBody>
          <a:bodyPr wrap="square" rtlCol="0" anchor="ctr"/>
          <a:lstStyle/>
          <a:p>
            <a:pPr algn="ctr" indent="0" marL="0">
              <a:buNone/>
            </a:pPr>
            <a:r>
              <a:rPr lang="en-US" sz="4000" b="1" dirty="0">
                <a:solidFill>
                  <a:srgbClr val="963B2F"/>
                </a:solidFill>
                <a:latin typeface="Gmarket Sans Bold" pitchFamily="34" charset="0"/>
                <a:ea typeface="Gmarket Sans Bold" pitchFamily="34" charset="-122"/>
                <a:cs typeface="Gmarket Sans Bold" pitchFamily="34" charset="-120"/>
              </a:rPr>
              <a:t>Q &amp; A</a:t>
            </a:r>
            <a:endParaRPr lang="en-US" sz="4000" dirty="0"/>
          </a:p>
        </p:txBody>
      </p:sp>
      <p:sp>
        <p:nvSpPr>
          <p:cNvPr id="4" name="Text 2"/>
          <p:cNvSpPr/>
          <p:nvPr/>
        </p:nvSpPr>
        <p:spPr>
          <a:xfrm>
            <a:off x="1371600" y="2560320"/>
            <a:ext cx="9448495" cy="548640"/>
          </a:xfrm>
          <a:prstGeom prst="rect">
            <a:avLst/>
          </a:prstGeom>
          <a:noFill/>
          <a:ln/>
        </p:spPr>
        <p:txBody>
          <a:bodyPr wrap="square" rtlCol="0" anchor="ctr"/>
          <a:lstStyle/>
          <a:p>
            <a:pPr algn="ctr" indent="0" marL="0">
              <a:buNone/>
            </a:pPr>
            <a:r>
              <a:rPr lang="en-US" sz="2400" dirty="0">
                <a:solidFill>
                  <a:srgbClr val="3D3530"/>
                </a:solidFill>
                <a:latin typeface="Gmarket Sans Bold" pitchFamily="34" charset="0"/>
                <a:ea typeface="Gmarket Sans Bold" pitchFamily="34" charset="-122"/>
                <a:cs typeface="Gmarket Sans Bold" pitchFamily="34" charset="-120"/>
              </a:rPr>
              <a:t>경청해 주셔서 감사합니다.</a:t>
            </a:r>
            <a:endParaRPr lang="en-US" sz="2400" dirty="0"/>
          </a:p>
        </p:txBody>
      </p:sp>
      <p:sp>
        <p:nvSpPr>
          <p:cNvPr id="5" name="Text 3"/>
          <p:cNvSpPr/>
          <p:nvPr/>
        </p:nvSpPr>
        <p:spPr>
          <a:xfrm>
            <a:off x="1371600" y="3291840"/>
            <a:ext cx="9448495" cy="914400"/>
          </a:xfrm>
          <a:prstGeom prst="rect">
            <a:avLst/>
          </a:prstGeom>
          <a:noFill/>
          <a:ln/>
        </p:spPr>
        <p:txBody>
          <a:bodyPr wrap="square" rtlCol="0" anchor="ctr"/>
          <a:lstStyle/>
          <a:p>
            <a:pPr algn="ctr" indent="0" marL="0">
              <a:lnSpc>
                <a:spcPts val="2200"/>
              </a:lnSpc>
              <a:buNone/>
            </a:pPr>
            <a:r>
              <a:rPr lang="en-US" sz="1500" dirty="0">
                <a:solidFill>
                  <a:srgbClr val="7A6C5D"/>
                </a:solidFill>
                <a:latin typeface="NanumGothic" pitchFamily="34" charset="0"/>
                <a:ea typeface="NanumGothic" pitchFamily="34" charset="-122"/>
                <a:cs typeface="NanumGothic" pitchFamily="34" charset="-120"/>
              </a:rPr>
              <a:t>YES24 베스트셀러 EDA 노르딕 &amp; 벽돌색 에디션 30페이지 발표를 마칩니다.</a:t>
            </a:r>
            <a:endParaRPr lang="en-US" sz="1500" dirty="0"/>
          </a:p>
          <a:p>
            <a:pPr algn="ctr" indent="0" marL="0">
              <a:lnSpc>
                <a:spcPts val="2200"/>
              </a:lnSpc>
              <a:buNone/>
            </a:pPr>
            <a:r>
              <a:rPr lang="en-US" sz="1500" dirty="0">
                <a:solidFill>
                  <a:srgbClr val="7A6C5D"/>
                </a:solidFill>
                <a:latin typeface="NanumGothic" pitchFamily="34" charset="0"/>
                <a:ea typeface="NanumGothic" pitchFamily="34" charset="-122"/>
                <a:cs typeface="NanumGothic" pitchFamily="34" charset="-120"/>
              </a:rPr>
              <a:t>질의응답 및 추가 분석 요청 사항을 말씀해 주시기 바랍니다.</a:t>
            </a:r>
            <a:endParaRPr lang="en-US" sz="1500" dirty="0"/>
          </a:p>
        </p:txBody>
      </p:sp>
      <p:sp>
        <p:nvSpPr>
          <p:cNvPr id="6" name="Text 4"/>
          <p:cNvSpPr/>
          <p:nvPr/>
        </p:nvSpPr>
        <p:spPr>
          <a:xfrm>
            <a:off x="914400" y="5852160"/>
            <a:ext cx="10362895" cy="365760"/>
          </a:xfrm>
          <a:prstGeom prst="rect">
            <a:avLst/>
          </a:prstGeom>
          <a:noFill/>
          <a:ln/>
        </p:spPr>
        <p:txBody>
          <a:bodyPr wrap="square" rtlCol="0" anchor="ctr"/>
          <a:lstStyle/>
          <a:p>
            <a:pPr algn="ctr" indent="0" marL="0">
              <a:buNone/>
            </a:pPr>
            <a:r>
              <a:rPr lang="en-US" sz="1100" dirty="0">
                <a:solidFill>
                  <a:srgbClr val="7A6C5D"/>
                </a:solidFill>
                <a:latin typeface="NanumGothic" pitchFamily="34" charset="0"/>
                <a:ea typeface="NanumGothic" pitchFamily="34" charset="-122"/>
                <a:cs typeface="NanumGothic" pitchFamily="34" charset="-120"/>
              </a:rPr>
              <a:t>분석 담당자: 20년차 데이터 분석 팀 | 문의: analytics@yes24-eda.com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2026-08-12T06:28:23Z</dcterms:created>
  <dcterms:modified xsi:type="dcterms:W3CDTF">2026-08-12T06:28:23Z</dcterms:modified>
</cp:coreProperties>
</file>